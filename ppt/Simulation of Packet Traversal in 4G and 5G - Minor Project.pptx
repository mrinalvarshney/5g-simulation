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4" r:id="rId1"/>
  </p:sldMasterIdLst>
  <p:notesMasterIdLst>
    <p:notesMasterId r:id="rId34"/>
  </p:notesMasterIdLst>
  <p:sldIdLst>
    <p:sldId id="256" r:id="rId2"/>
    <p:sldId id="257" r:id="rId3"/>
    <p:sldId id="260" r:id="rId4"/>
    <p:sldId id="259" r:id="rId5"/>
    <p:sldId id="263" r:id="rId6"/>
    <p:sldId id="271" r:id="rId7"/>
    <p:sldId id="266" r:id="rId8"/>
    <p:sldId id="264" r:id="rId9"/>
    <p:sldId id="268" r:id="rId10"/>
    <p:sldId id="272" r:id="rId11"/>
    <p:sldId id="273" r:id="rId12"/>
    <p:sldId id="274" r:id="rId13"/>
    <p:sldId id="291" r:id="rId14"/>
    <p:sldId id="276" r:id="rId15"/>
    <p:sldId id="280" r:id="rId16"/>
    <p:sldId id="277" r:id="rId17"/>
    <p:sldId id="278" r:id="rId18"/>
    <p:sldId id="279" r:id="rId19"/>
    <p:sldId id="281" r:id="rId20"/>
    <p:sldId id="282" r:id="rId21"/>
    <p:sldId id="283" r:id="rId22"/>
    <p:sldId id="284" r:id="rId23"/>
    <p:sldId id="285" r:id="rId24"/>
    <p:sldId id="286" r:id="rId25"/>
    <p:sldId id="287" r:id="rId26"/>
    <p:sldId id="292" r:id="rId27"/>
    <p:sldId id="293" r:id="rId28"/>
    <p:sldId id="294" r:id="rId29"/>
    <p:sldId id="295" r:id="rId30"/>
    <p:sldId id="290" r:id="rId31"/>
    <p:sldId id="288" r:id="rId32"/>
    <p:sldId id="289"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882" autoAdjust="0"/>
  </p:normalViewPr>
  <p:slideViewPr>
    <p:cSldViewPr snapToGrid="0">
      <p:cViewPr varScale="1">
        <p:scale>
          <a:sx n="71" d="100"/>
          <a:sy n="71" d="100"/>
        </p:scale>
        <p:origin x="113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CA4AF4-97AF-48B9-952B-E885F89E6465}" type="datetimeFigureOut">
              <a:rPr lang="en-IN" smtClean="0"/>
              <a:t>20-11-2025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D35C94-71CF-492E-984F-78728A66A58C}" type="slidenum">
              <a:rPr lang="en-IN" smtClean="0"/>
              <a:t>‹#›</a:t>
            </a:fld>
            <a:endParaRPr lang="en-IN"/>
          </a:p>
        </p:txBody>
      </p:sp>
    </p:spTree>
    <p:extLst>
      <p:ext uri="{BB962C8B-B14F-4D97-AF65-F5344CB8AC3E}">
        <p14:creationId xmlns:p14="http://schemas.microsoft.com/office/powerpoint/2010/main" val="515796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google.com/search?q=UE+to+eNB&amp;oq=in+4g+gtp-u+tunnel+is+created+between+ue+and+eNB+also+%3E&amp;gs_lcrp=EgZjaHJvbWUyBggAEEUYOTIGCAEQRRhA0gEJMTIzNDlqMGo3qAIAsAIA&amp;sourceid=chrome&amp;ie=UTF-8&amp;mstk=AUtExfBD77DR7OiVoGFmhUmyEI_KsIFPsCd4G2rIktaS6JJs1A9wVpfO3igZ44SyuVc7ks-Lwd0VfRQmZ8ijpYv2Y91g-DO9-1XpyER6vkeVJkDsPHAtSnCfxiTcDQSp1_MRkFQ4A8KcOvoaGA-YONnWVguwc0liQZPZK1wIrE-AvsixfpYjPAcbDTkmnWMvpUFa_FhEWjjQ-r8Hfo01UvpZVTAwcRwcj7yTOD8NWmOr67ppnYO4GjyfTx6WdSqoXrs0Ixh_SMCqxMYoDU94d4iTXdtqF83K9Tmj2Whyrg-yjQomZg&amp;csui=3&amp;ved=2ahUKEwiq1bHOh_-QAxUJSWwGHXH7IFUQgK4QegQIAxAB"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www.google.com/search?q=P-GW+to+Internet&amp;oq=in+4g+gtp-u+tunnel+is+created+between+ue+and+eNB+also+%3E&amp;gs_lcrp=EgZjaHJvbWUyBggAEEUYOTIGCAEQRRhA0gEJMTIzNDlqMGo3qAIAsAIA&amp;sourceid=chrome&amp;ie=UTF-8&amp;mstk=AUtExfBD77DR7OiVoGFmhUmyEI_KsIFPsCd4G2rIktaS6JJs1A9wVpfO3igZ44SyuVc7ks-Lwd0VfRQmZ8ijpYv2Y91g-DO9-1XpyER6vkeVJkDsPHAtSnCfxiTcDQSp1_MRkFQ4A8KcOvoaGA-YONnWVguwc0liQZPZK1wIrE-AvsixfpYjPAcbDTkmnWMvpUFa_FhEWjjQ-r8Hfo01UvpZVTAwcRwcj7yTOD8NWmOr67ppnYO4GjyfTx6WdSqoXrs0Ixh_SMCqxMYoDU94d4iTXdtqF83K9Tmj2Whyrg-yjQomZg&amp;csui=3&amp;ved=2ahUKEwiq1bHOh_-QAxUJSWwGHXH7IFUQgK4QegQIAxAH" TargetMode="External"/><Relationship Id="rId5" Type="http://schemas.openxmlformats.org/officeDocument/2006/relationships/hyperlink" Target="https://www.google.com/search?q=S-GW+to+P-GW&amp;oq=in+4g+gtp-u+tunnel+is+created+between+ue+and+eNB+also+%3E&amp;gs_lcrp=EgZjaHJvbWUyBggAEEUYOTIGCAEQRRhA0gEJMTIzNDlqMGo3qAIAsAIA&amp;sourceid=chrome&amp;ie=UTF-8&amp;mstk=AUtExfBD77DR7OiVoGFmhUmyEI_KsIFPsCd4G2rIktaS6JJs1A9wVpfO3igZ44SyuVc7ks-Lwd0VfRQmZ8ijpYv2Y91g-DO9-1XpyER6vkeVJkDsPHAtSnCfxiTcDQSp1_MRkFQ4A8KcOvoaGA-YONnWVguwc0liQZPZK1wIrE-AvsixfpYjPAcbDTkmnWMvpUFa_FhEWjjQ-r8Hfo01UvpZVTAwcRwcj7yTOD8NWmOr67ppnYO4GjyfTx6WdSqoXrs0Ixh_SMCqxMYoDU94d4iTXdtqF83K9Tmj2Whyrg-yjQomZg&amp;csui=3&amp;ved=2ahUKEwiq1bHOh_-QAxUJSWwGHXH7IFUQgK4QegQIAxAF" TargetMode="External"/><Relationship Id="rId4" Type="http://schemas.openxmlformats.org/officeDocument/2006/relationships/hyperlink" Target="https://www.google.com/search?q=eNB+to+S-GW&amp;oq=in+4g+gtp-u+tunnel+is+created+between+ue+and+eNB+also+%3E&amp;gs_lcrp=EgZjaHJvbWUyBggAEEUYOTIGCAEQRRhA0gEJMTIzNDlqMGo3qAIAsAIA&amp;sourceid=chrome&amp;ie=UTF-8&amp;mstk=AUtExfBD77DR7OiVoGFmhUmyEI_KsIFPsCd4G2rIktaS6JJs1A9wVpfO3igZ44SyuVc7ks-Lwd0VfRQmZ8ijpYv2Y91g-DO9-1XpyER6vkeVJkDsPHAtSnCfxiTcDQSp1_MRkFQ4A8KcOvoaGA-YONnWVguwc0liQZPZK1wIrE-AvsixfpYjPAcbDTkmnWMvpUFa_FhEWjjQ-r8Hfo01UvpZVTAwcRwcj7yTOD8NWmOr67ppnYO4GjyfTx6WdSqoXrs0Ixh_SMCqxMYoDU94d4iTXdtqF83K9Tmj2Whyrg-yjQomZg&amp;csui=3&amp;ved=2ahUKEwiq1bHOh_-QAxUJSWwGHXH7IFUQgK4QegQIAxAD"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VoIP</a:t>
            </a:r>
            <a:r>
              <a:rPr lang="en-US" dirty="0"/>
              <a:t> needs </a:t>
            </a:r>
            <a:r>
              <a:rPr lang="en-US" i="1" dirty="0"/>
              <a:t>very low latency</a:t>
            </a:r>
            <a:r>
              <a:rPr lang="en-US" dirty="0"/>
              <a:t> and </a:t>
            </a:r>
            <a:r>
              <a:rPr lang="en-US" i="1" dirty="0"/>
              <a:t>minimum jitter</a:t>
            </a:r>
            <a:endParaRPr lang="en-US" dirty="0"/>
          </a:p>
          <a:p>
            <a:r>
              <a:rPr lang="en-US" b="1" dirty="0"/>
              <a:t>Streaming</a:t>
            </a:r>
            <a:r>
              <a:rPr lang="en-US" dirty="0"/>
              <a:t> needs </a:t>
            </a:r>
            <a:r>
              <a:rPr lang="en-US" i="1" dirty="0"/>
              <a:t>high throughput</a:t>
            </a:r>
            <a:r>
              <a:rPr lang="en-US" dirty="0"/>
              <a:t> but can tolerate some buffering</a:t>
            </a:r>
          </a:p>
          <a:p>
            <a:r>
              <a:rPr lang="en-US" b="1" dirty="0"/>
              <a:t>General Internet browsing</a:t>
            </a:r>
            <a:r>
              <a:rPr lang="en-US" dirty="0"/>
              <a:t> is </a:t>
            </a:r>
            <a:r>
              <a:rPr lang="en-US" i="1" dirty="0"/>
              <a:t>best-effort</a:t>
            </a:r>
            <a:r>
              <a:rPr lang="en-US" dirty="0"/>
              <a:t> and does not require strict QoS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If all traffic uses the same network path (as in 4G), congestion from one service affects the others.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5G isolates VoIP, streaming, and internet traffic into different slices to ensure each service gets the performance it requires without affecting others.</a:t>
            </a:r>
          </a:p>
          <a:p>
            <a:endParaRPr lang="en-US" dirty="0"/>
          </a:p>
          <a:p>
            <a:endParaRPr lang="en-IN" dirty="0"/>
          </a:p>
        </p:txBody>
      </p:sp>
      <p:sp>
        <p:nvSpPr>
          <p:cNvPr id="4" name="Slide Number Placeholder 3"/>
          <p:cNvSpPr>
            <a:spLocks noGrp="1"/>
          </p:cNvSpPr>
          <p:nvPr>
            <p:ph type="sldNum" sz="quarter" idx="5"/>
          </p:nvPr>
        </p:nvSpPr>
        <p:spPr/>
        <p:txBody>
          <a:bodyPr/>
          <a:lstStyle/>
          <a:p>
            <a:fld id="{D7D35C94-71CF-492E-984F-78728A66A58C}" type="slidenum">
              <a:rPr lang="en-IN" smtClean="0"/>
              <a:t>3</a:t>
            </a:fld>
            <a:endParaRPr lang="en-IN"/>
          </a:p>
        </p:txBody>
      </p:sp>
    </p:spTree>
    <p:extLst>
      <p:ext uri="{BB962C8B-B14F-4D97-AF65-F5344CB8AC3E}">
        <p14:creationId xmlns:p14="http://schemas.microsoft.com/office/powerpoint/2010/main" val="3709222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hlinkClick r:id="rId3"/>
              </a:rPr>
              <a:t>UE to </a:t>
            </a:r>
            <a:r>
              <a:rPr lang="en-US" sz="1200" b="1" i="0" kern="1200" dirty="0" err="1">
                <a:solidFill>
                  <a:schemeClr val="tx1"/>
                </a:solidFill>
                <a:effectLst/>
                <a:latin typeface="+mn-lt"/>
                <a:ea typeface="+mn-ea"/>
                <a:cs typeface="+mn-cs"/>
                <a:hlinkClick r:id="rId3"/>
              </a:rPr>
              <a:t>eNB</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The UE sends IP packets to the </a:t>
            </a:r>
            <a:r>
              <a:rPr lang="en-US" sz="1200" b="0" i="0" kern="1200" dirty="0" err="1">
                <a:solidFill>
                  <a:schemeClr val="tx1"/>
                </a:solidFill>
                <a:effectLst/>
                <a:latin typeface="+mn-lt"/>
                <a:ea typeface="+mn-ea"/>
                <a:cs typeface="+mn-cs"/>
              </a:rPr>
              <a:t>eNB</a:t>
            </a:r>
            <a:r>
              <a:rPr lang="en-US" sz="1200" b="0" i="0" kern="1200" dirty="0">
                <a:solidFill>
                  <a:schemeClr val="tx1"/>
                </a:solidFill>
                <a:effectLst/>
                <a:latin typeface="+mn-lt"/>
                <a:ea typeface="+mn-ea"/>
                <a:cs typeface="+mn-cs"/>
              </a:rPr>
              <a:t> over the radio interface (</a:t>
            </a:r>
            <a:r>
              <a:rPr lang="en-US" sz="1200" b="0" i="0" kern="1200" dirty="0" err="1">
                <a:solidFill>
                  <a:schemeClr val="tx1"/>
                </a:solidFill>
                <a:effectLst/>
                <a:latin typeface="+mn-lt"/>
                <a:ea typeface="+mn-ea"/>
                <a:cs typeface="+mn-cs"/>
              </a:rPr>
              <a:t>Uu</a:t>
            </a:r>
            <a:r>
              <a:rPr lang="en-US" sz="1200" b="0" i="0" kern="1200" dirty="0">
                <a:solidFill>
                  <a:schemeClr val="tx1"/>
                </a:solidFill>
                <a:effectLst/>
                <a:latin typeface="+mn-lt"/>
                <a:ea typeface="+mn-ea"/>
                <a:cs typeface="+mn-cs"/>
              </a:rPr>
              <a:t>).</a:t>
            </a:r>
          </a:p>
          <a:p>
            <a:r>
              <a:rPr lang="en-US" sz="1200" b="1" i="0" kern="1200" dirty="0" err="1">
                <a:solidFill>
                  <a:schemeClr val="tx1"/>
                </a:solidFill>
                <a:effectLst/>
                <a:latin typeface="+mn-lt"/>
                <a:ea typeface="+mn-ea"/>
                <a:cs typeface="+mn-cs"/>
                <a:hlinkClick r:id="rId4"/>
              </a:rPr>
              <a:t>eNB</a:t>
            </a:r>
            <a:r>
              <a:rPr lang="en-US" sz="1200" b="1" i="0" kern="1200" dirty="0">
                <a:solidFill>
                  <a:schemeClr val="tx1"/>
                </a:solidFill>
                <a:effectLst/>
                <a:latin typeface="+mn-lt"/>
                <a:ea typeface="+mn-ea"/>
                <a:cs typeface="+mn-cs"/>
                <a:hlinkClick r:id="rId4"/>
              </a:rPr>
              <a:t> to S-GW</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The </a:t>
            </a:r>
            <a:r>
              <a:rPr lang="en-US" sz="1200" b="0" i="0" kern="1200" dirty="0" err="1">
                <a:solidFill>
                  <a:schemeClr val="tx1"/>
                </a:solidFill>
                <a:effectLst/>
                <a:latin typeface="+mn-lt"/>
                <a:ea typeface="+mn-ea"/>
                <a:cs typeface="+mn-cs"/>
              </a:rPr>
              <a:t>eNB</a:t>
            </a:r>
            <a:r>
              <a:rPr lang="en-US" sz="1200" b="0" i="0" kern="1200" dirty="0">
                <a:solidFill>
                  <a:schemeClr val="tx1"/>
                </a:solidFill>
                <a:effectLst/>
                <a:latin typeface="+mn-lt"/>
                <a:ea typeface="+mn-ea"/>
                <a:cs typeface="+mn-cs"/>
              </a:rPr>
              <a:t> adds a GTP-U header, creating an S1 tunnel, and sends the encapsulated packets to the S-GW.</a:t>
            </a:r>
          </a:p>
          <a:p>
            <a:r>
              <a:rPr lang="en-US" sz="1200" b="1" i="0" kern="1200" dirty="0">
                <a:solidFill>
                  <a:schemeClr val="tx1"/>
                </a:solidFill>
                <a:effectLst/>
                <a:latin typeface="+mn-lt"/>
                <a:ea typeface="+mn-ea"/>
                <a:cs typeface="+mn-cs"/>
                <a:hlinkClick r:id="rId5"/>
              </a:rPr>
              <a:t>S-GW to P-GW</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The S-GW removes the S1 tunnel header, adds its own GTP-U header, creating an S5 tunnel, and forwards the packets to the P-GW.</a:t>
            </a:r>
          </a:p>
          <a:p>
            <a:r>
              <a:rPr lang="en-US" sz="1200" b="1" i="0" kern="1200" dirty="0">
                <a:solidFill>
                  <a:schemeClr val="tx1"/>
                </a:solidFill>
                <a:effectLst/>
                <a:latin typeface="+mn-lt"/>
                <a:ea typeface="+mn-ea"/>
                <a:cs typeface="+mn-cs"/>
                <a:hlinkClick r:id="rId6"/>
              </a:rPr>
              <a:t>P-GW to Internet</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The P-GW removes the S5 tunnel header and forwards the original IP packet to the internet. </a:t>
            </a:r>
          </a:p>
          <a:p>
            <a:endParaRPr lang="en-IN" dirty="0"/>
          </a:p>
        </p:txBody>
      </p:sp>
      <p:sp>
        <p:nvSpPr>
          <p:cNvPr id="4" name="Slide Number Placeholder 3"/>
          <p:cNvSpPr>
            <a:spLocks noGrp="1"/>
          </p:cNvSpPr>
          <p:nvPr>
            <p:ph type="sldNum" sz="quarter" idx="5"/>
          </p:nvPr>
        </p:nvSpPr>
        <p:spPr/>
        <p:txBody>
          <a:bodyPr/>
          <a:lstStyle/>
          <a:p>
            <a:fld id="{D7D35C94-71CF-492E-984F-78728A66A58C}" type="slidenum">
              <a:rPr lang="en-IN" smtClean="0"/>
              <a:t>5</a:t>
            </a:fld>
            <a:endParaRPr lang="en-IN"/>
          </a:p>
        </p:txBody>
      </p:sp>
    </p:spTree>
    <p:extLst>
      <p:ext uri="{BB962C8B-B14F-4D97-AF65-F5344CB8AC3E}">
        <p14:creationId xmlns:p14="http://schemas.microsoft.com/office/powerpoint/2010/main" val="2667676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Slice/Service Type (SST)</a:t>
            </a:r>
          </a:p>
          <a:p>
            <a:r>
              <a:rPr lang="en-US" sz="1200" b="1" i="0" kern="1200" dirty="0">
                <a:solidFill>
                  <a:schemeClr val="tx1"/>
                </a:solidFill>
                <a:effectLst/>
                <a:latin typeface="+mn-lt"/>
                <a:ea typeface="+mn-ea"/>
                <a:cs typeface="+mn-cs"/>
              </a:rPr>
              <a:t>Definition:</a:t>
            </a:r>
            <a:r>
              <a:rPr lang="en-US" sz="1200" b="0" i="0" kern="1200" dirty="0">
                <a:solidFill>
                  <a:schemeClr val="tx1"/>
                </a:solidFill>
                <a:effectLst/>
                <a:latin typeface="+mn-lt"/>
                <a:ea typeface="+mn-ea"/>
                <a:cs typeface="+mn-cs"/>
              </a:rPr>
              <a:t> An SST is an 8-bit field that identifies the expected behavior of a network slice in terms of its services and features.</a:t>
            </a:r>
          </a:p>
          <a:p>
            <a:r>
              <a:rPr lang="en-US" sz="1200" b="1" i="0" kern="1200" dirty="0">
                <a:solidFill>
                  <a:schemeClr val="tx1"/>
                </a:solidFill>
                <a:effectLst/>
                <a:latin typeface="+mn-lt"/>
                <a:ea typeface="+mn-ea"/>
                <a:cs typeface="+mn-cs"/>
              </a:rPr>
              <a:t>Function:</a:t>
            </a:r>
            <a:r>
              <a:rPr lang="en-US" sz="1200" b="0" i="0" kern="1200" dirty="0">
                <a:solidFill>
                  <a:schemeClr val="tx1"/>
                </a:solidFill>
                <a:effectLst/>
                <a:latin typeface="+mn-lt"/>
                <a:ea typeface="+mn-ea"/>
                <a:cs typeface="+mn-cs"/>
              </a:rPr>
              <a:t> It broadly categorizes slices, such as for enhanced mobile broadband (</a:t>
            </a:r>
            <a:r>
              <a:rPr lang="en-US" sz="1200" b="0" i="0" kern="1200" dirty="0" err="1">
                <a:solidFill>
                  <a:schemeClr val="tx1"/>
                </a:solidFill>
                <a:effectLst/>
                <a:latin typeface="+mn-lt"/>
                <a:ea typeface="+mn-ea"/>
                <a:cs typeface="+mn-cs"/>
              </a:rPr>
              <a:t>eMBB</a:t>
            </a:r>
            <a:r>
              <a:rPr lang="en-US" sz="1200" b="0" i="0" kern="1200" dirty="0">
                <a:solidFill>
                  <a:schemeClr val="tx1"/>
                </a:solidFill>
                <a:effectLst/>
                <a:latin typeface="+mn-lt"/>
                <a:ea typeface="+mn-ea"/>
                <a:cs typeface="+mn-cs"/>
              </a:rPr>
              <a:t>), ultra-reliable low-latency communication (URLLC), or massive machine-type communication (</a:t>
            </a:r>
            <a:r>
              <a:rPr lang="en-US" sz="1200" b="0" i="0" kern="1200" dirty="0" err="1">
                <a:solidFill>
                  <a:schemeClr val="tx1"/>
                </a:solidFill>
                <a:effectLst/>
                <a:latin typeface="+mn-lt"/>
                <a:ea typeface="+mn-ea"/>
                <a:cs typeface="+mn-cs"/>
              </a:rPr>
              <a:t>mMTC</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Standardization:</a:t>
            </a:r>
            <a:r>
              <a:rPr lang="en-US" sz="1200" b="0" i="0" kern="1200" dirty="0">
                <a:solidFill>
                  <a:schemeClr val="tx1"/>
                </a:solidFill>
                <a:effectLst/>
                <a:latin typeface="+mn-lt"/>
                <a:ea typeface="+mn-ea"/>
                <a:cs typeface="+mn-cs"/>
              </a:rPr>
              <a:t> Some SST values are standardized by 3GPP to ensure global interoperability. </a:t>
            </a:r>
          </a:p>
          <a:p>
            <a:r>
              <a:rPr lang="en-US" sz="1200" b="1" i="0" kern="1200" dirty="0">
                <a:solidFill>
                  <a:schemeClr val="tx1"/>
                </a:solidFill>
                <a:effectLst/>
                <a:latin typeface="+mn-lt"/>
                <a:ea typeface="+mn-ea"/>
                <a:cs typeface="+mn-cs"/>
              </a:rPr>
              <a:t>Slice Differentiator (SD)</a:t>
            </a:r>
          </a:p>
          <a:p>
            <a:r>
              <a:rPr lang="en-US" sz="1200" b="1" i="0" kern="1200" dirty="0">
                <a:solidFill>
                  <a:schemeClr val="tx1"/>
                </a:solidFill>
                <a:effectLst/>
                <a:latin typeface="+mn-lt"/>
                <a:ea typeface="+mn-ea"/>
                <a:cs typeface="+mn-cs"/>
              </a:rPr>
              <a:t>Definition:</a:t>
            </a:r>
            <a:r>
              <a:rPr lang="en-US" sz="1200" b="0" i="0" kern="1200" dirty="0">
                <a:solidFill>
                  <a:schemeClr val="tx1"/>
                </a:solidFill>
                <a:effectLst/>
                <a:latin typeface="+mn-lt"/>
                <a:ea typeface="+mn-ea"/>
                <a:cs typeface="+mn-cs"/>
              </a:rPr>
              <a:t> A non-standardized, optional field that supplements the SST.</a:t>
            </a:r>
          </a:p>
          <a:p>
            <a:r>
              <a:rPr lang="en-US" sz="1200" b="1" i="0" kern="1200" dirty="0">
                <a:solidFill>
                  <a:schemeClr val="tx1"/>
                </a:solidFill>
                <a:effectLst/>
                <a:latin typeface="+mn-lt"/>
                <a:ea typeface="+mn-ea"/>
                <a:cs typeface="+mn-cs"/>
              </a:rPr>
              <a:t>Function:</a:t>
            </a:r>
            <a:r>
              <a:rPr lang="en-US" sz="1200" b="0" i="0" kern="1200" dirty="0">
                <a:solidFill>
                  <a:schemeClr val="tx1"/>
                </a:solidFill>
                <a:effectLst/>
                <a:latin typeface="+mn-lt"/>
                <a:ea typeface="+mn-ea"/>
                <a:cs typeface="+mn-cs"/>
              </a:rPr>
              <a:t> It differentiates between multiple network slices that share the same SST. For example, two different slices for a specific type of online gaming could have the same SST but different SD values.</a:t>
            </a:r>
          </a:p>
          <a:p>
            <a:r>
              <a:rPr lang="en-US" sz="1200" b="1" i="0" kern="1200" dirty="0">
                <a:solidFill>
                  <a:schemeClr val="tx1"/>
                </a:solidFill>
                <a:effectLst/>
                <a:latin typeface="+mn-lt"/>
                <a:ea typeface="+mn-ea"/>
                <a:cs typeface="+mn-cs"/>
              </a:rPr>
              <a:t>Purpose:</a:t>
            </a:r>
            <a:r>
              <a:rPr lang="en-US" sz="1200" b="0" i="0" kern="1200" dirty="0">
                <a:solidFill>
                  <a:schemeClr val="tx1"/>
                </a:solidFill>
                <a:effectLst/>
                <a:latin typeface="+mn-lt"/>
                <a:ea typeface="+mn-ea"/>
                <a:cs typeface="+mn-cs"/>
              </a:rPr>
              <a:t> It provides a way to create more granular network slices beyond the general categories defined by the SST. </a:t>
            </a:r>
          </a:p>
          <a:p>
            <a:endParaRPr lang="en-IN" dirty="0"/>
          </a:p>
        </p:txBody>
      </p:sp>
      <p:sp>
        <p:nvSpPr>
          <p:cNvPr id="4" name="Slide Number Placeholder 3"/>
          <p:cNvSpPr>
            <a:spLocks noGrp="1"/>
          </p:cNvSpPr>
          <p:nvPr>
            <p:ph type="sldNum" sz="quarter" idx="5"/>
          </p:nvPr>
        </p:nvSpPr>
        <p:spPr/>
        <p:txBody>
          <a:bodyPr/>
          <a:lstStyle/>
          <a:p>
            <a:fld id="{D7D35C94-71CF-492E-984F-78728A66A58C}" type="slidenum">
              <a:rPr lang="en-IN" smtClean="0"/>
              <a:t>7</a:t>
            </a:fld>
            <a:endParaRPr lang="en-IN"/>
          </a:p>
        </p:txBody>
      </p:sp>
    </p:spTree>
    <p:extLst>
      <p:ext uri="{BB962C8B-B14F-4D97-AF65-F5344CB8AC3E}">
        <p14:creationId xmlns:p14="http://schemas.microsoft.com/office/powerpoint/2010/main" val="268188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D35C94-71CF-492E-984F-78728A66A58C}" type="slidenum">
              <a:rPr lang="en-IN" smtClean="0"/>
              <a:t>8</a:t>
            </a:fld>
            <a:endParaRPr lang="en-IN"/>
          </a:p>
        </p:txBody>
      </p:sp>
    </p:spTree>
    <p:extLst>
      <p:ext uri="{BB962C8B-B14F-4D97-AF65-F5344CB8AC3E}">
        <p14:creationId xmlns:p14="http://schemas.microsoft.com/office/powerpoint/2010/main" val="371979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D35C94-71CF-492E-984F-78728A66A58C}" type="slidenum">
              <a:rPr lang="en-IN" smtClean="0"/>
              <a:t>17</a:t>
            </a:fld>
            <a:endParaRPr lang="en-IN"/>
          </a:p>
        </p:txBody>
      </p:sp>
    </p:spTree>
    <p:extLst>
      <p:ext uri="{BB962C8B-B14F-4D97-AF65-F5344CB8AC3E}">
        <p14:creationId xmlns:p14="http://schemas.microsoft.com/office/powerpoint/2010/main" val="8704142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7D35C94-71CF-492E-984F-78728A66A58C}" type="slidenum">
              <a:rPr lang="en-IN" smtClean="0"/>
              <a:t>18</a:t>
            </a:fld>
            <a:endParaRPr lang="en-IN"/>
          </a:p>
        </p:txBody>
      </p:sp>
    </p:spTree>
    <p:extLst>
      <p:ext uri="{BB962C8B-B14F-4D97-AF65-F5344CB8AC3E}">
        <p14:creationId xmlns:p14="http://schemas.microsoft.com/office/powerpoint/2010/main" val="2162544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14A900-5B20-4303-8EA1-91C7FE850C83}"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1746824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14A900-5B20-4303-8EA1-91C7FE850C83}"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2163951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14A900-5B20-4303-8EA1-91C7FE850C83}"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1264571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14A900-5B20-4303-8EA1-91C7FE850C83}"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3608614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14A900-5B20-4303-8EA1-91C7FE850C83}"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370580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14A900-5B20-4303-8EA1-91C7FE850C83}"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3141062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14A900-5B20-4303-8EA1-91C7FE850C83}"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962001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14A900-5B20-4303-8EA1-91C7FE850C83}"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267170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14A900-5B20-4303-8EA1-91C7FE850C83}"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3789413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14A900-5B20-4303-8EA1-91C7FE850C83}"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3696685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14A900-5B20-4303-8EA1-91C7FE850C83}"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14753389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14A900-5B20-4303-8EA1-91C7FE850C83}"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A16B81-49B6-4ACD-8668-09BD7AAFAF6C}"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71161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14A900-5B20-4303-8EA1-91C7FE850C83}"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17025457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914A900-5B20-4303-8EA1-91C7FE850C83}"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10160358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914A900-5B20-4303-8EA1-91C7FE850C83}"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37281520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14A900-5B20-4303-8EA1-91C7FE850C83}"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6688285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14A900-5B20-4303-8EA1-91C7FE850C83}"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A16B81-49B6-4ACD-8668-09BD7AAFAF6C}" type="slidenum">
              <a:rPr lang="en-IN" smtClean="0"/>
              <a:t>‹#›</a:t>
            </a:fld>
            <a:endParaRPr lang="en-IN"/>
          </a:p>
        </p:txBody>
      </p:sp>
    </p:spTree>
    <p:extLst>
      <p:ext uri="{BB962C8B-B14F-4D97-AF65-F5344CB8AC3E}">
        <p14:creationId xmlns:p14="http://schemas.microsoft.com/office/powerpoint/2010/main" val="4051851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7914A900-5B20-4303-8EA1-91C7FE850C83}" type="datetimeFigureOut">
              <a:rPr lang="en-IN" smtClean="0"/>
              <a:t>20-11-2025</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4A16B81-49B6-4ACD-8668-09BD7AAFAF6C}" type="slidenum">
              <a:rPr lang="en-IN" smtClean="0"/>
              <a:t>‹#›</a:t>
            </a:fld>
            <a:endParaRPr lang="en-IN"/>
          </a:p>
        </p:txBody>
      </p:sp>
    </p:spTree>
    <p:extLst>
      <p:ext uri="{BB962C8B-B14F-4D97-AF65-F5344CB8AC3E}">
        <p14:creationId xmlns:p14="http://schemas.microsoft.com/office/powerpoint/2010/main" val="3968986704"/>
      </p:ext>
    </p:extLst>
  </p:cSld>
  <p:clrMap bg1="dk1" tx1="lt1" bg2="dk2" tx2="lt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 id="2147484060" r:id="rId16"/>
    <p:sldLayoutId id="214748406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ADA6-87B2-1CD3-E703-8DC6177DF4E5}"/>
              </a:ext>
            </a:extLst>
          </p:cNvPr>
          <p:cNvSpPr>
            <a:spLocks noGrp="1"/>
          </p:cNvSpPr>
          <p:nvPr>
            <p:ph type="ctrTitle"/>
          </p:nvPr>
        </p:nvSpPr>
        <p:spPr>
          <a:xfrm>
            <a:off x="2146762" y="1551038"/>
            <a:ext cx="8915399" cy="2262781"/>
          </a:xfrm>
        </p:spPr>
        <p:txBody>
          <a:bodyPr>
            <a:normAutofit/>
          </a:bodyPr>
          <a:lstStyle/>
          <a:p>
            <a:r>
              <a:rPr lang="en-IN" sz="4000" dirty="0"/>
              <a:t>Simulation of Packet Traversal in 4G and 5G Network</a:t>
            </a:r>
          </a:p>
        </p:txBody>
      </p:sp>
      <p:sp>
        <p:nvSpPr>
          <p:cNvPr id="3" name="Subtitle 2">
            <a:extLst>
              <a:ext uri="{FF2B5EF4-FFF2-40B4-BE49-F238E27FC236}">
                <a16:creationId xmlns:a16="http://schemas.microsoft.com/office/drawing/2014/main" id="{448DDF65-FA95-2B84-A2AD-C752176AD16F}"/>
              </a:ext>
            </a:extLst>
          </p:cNvPr>
          <p:cNvSpPr>
            <a:spLocks noGrp="1"/>
          </p:cNvSpPr>
          <p:nvPr>
            <p:ph type="subTitle" idx="1"/>
          </p:nvPr>
        </p:nvSpPr>
        <p:spPr>
          <a:xfrm>
            <a:off x="1622127" y="4641831"/>
            <a:ext cx="9440034" cy="1049867"/>
          </a:xfrm>
        </p:spPr>
        <p:txBody>
          <a:bodyPr>
            <a:normAutofit/>
          </a:bodyPr>
          <a:lstStyle/>
          <a:p>
            <a:pPr algn="r"/>
            <a:r>
              <a:rPr lang="en-IN" b="1" dirty="0"/>
              <a:t>Project Mentor – Prof. Neeraj Tyagi</a:t>
            </a:r>
          </a:p>
          <a:p>
            <a:pPr algn="r"/>
            <a:r>
              <a:rPr lang="en-IN" b="1" dirty="0"/>
              <a:t>Professor, CSE Department, MNNIT Allahabad</a:t>
            </a:r>
          </a:p>
        </p:txBody>
      </p:sp>
    </p:spTree>
    <p:extLst>
      <p:ext uri="{BB962C8B-B14F-4D97-AF65-F5344CB8AC3E}">
        <p14:creationId xmlns:p14="http://schemas.microsoft.com/office/powerpoint/2010/main" val="1465387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0F600-0C3C-1A48-EDCB-EE48F245974E}"/>
              </a:ext>
            </a:extLst>
          </p:cNvPr>
          <p:cNvSpPr>
            <a:spLocks noGrp="1"/>
          </p:cNvSpPr>
          <p:nvPr>
            <p:ph type="title"/>
          </p:nvPr>
        </p:nvSpPr>
        <p:spPr/>
        <p:txBody>
          <a:bodyPr/>
          <a:lstStyle/>
          <a:p>
            <a:r>
              <a:rPr lang="en-IN" dirty="0"/>
              <a:t>Team Members</a:t>
            </a:r>
          </a:p>
        </p:txBody>
      </p:sp>
      <p:sp>
        <p:nvSpPr>
          <p:cNvPr id="3" name="Content Placeholder 2">
            <a:extLst>
              <a:ext uri="{FF2B5EF4-FFF2-40B4-BE49-F238E27FC236}">
                <a16:creationId xmlns:a16="http://schemas.microsoft.com/office/drawing/2014/main" id="{CF1F342A-FB6F-5265-CBF7-1DD69E02F446}"/>
              </a:ext>
            </a:extLst>
          </p:cNvPr>
          <p:cNvSpPr>
            <a:spLocks noGrp="1"/>
          </p:cNvSpPr>
          <p:nvPr>
            <p:ph idx="1"/>
          </p:nvPr>
        </p:nvSpPr>
        <p:spPr/>
        <p:txBody>
          <a:bodyPr/>
          <a:lstStyle/>
          <a:p>
            <a:r>
              <a:rPr lang="en-IN" dirty="0"/>
              <a:t>Mrinal Varshney (20223156)</a:t>
            </a:r>
          </a:p>
          <a:p>
            <a:r>
              <a:rPr lang="en-IN" dirty="0"/>
              <a:t>Mangal Gupta (20223141)</a:t>
            </a:r>
          </a:p>
          <a:p>
            <a:r>
              <a:rPr lang="en-IN" dirty="0"/>
              <a:t>Dhiraj Kumar Jaiswal (20223515)</a:t>
            </a:r>
          </a:p>
          <a:p>
            <a:r>
              <a:rPr lang="en-IN" dirty="0"/>
              <a:t>Kundan Kumar (20223133)</a:t>
            </a:r>
          </a:p>
          <a:p>
            <a:endParaRPr lang="en-IN" dirty="0"/>
          </a:p>
        </p:txBody>
      </p:sp>
    </p:spTree>
    <p:extLst>
      <p:ext uri="{BB962C8B-B14F-4D97-AF65-F5344CB8AC3E}">
        <p14:creationId xmlns:p14="http://schemas.microsoft.com/office/powerpoint/2010/main" val="1357054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AB08C-03C2-0CF6-378E-716CB4E545A1}"/>
              </a:ext>
            </a:extLst>
          </p:cNvPr>
          <p:cNvSpPr>
            <a:spLocks noGrp="1"/>
          </p:cNvSpPr>
          <p:nvPr>
            <p:ph type="title"/>
          </p:nvPr>
        </p:nvSpPr>
        <p:spPr>
          <a:xfrm>
            <a:off x="874597" y="236668"/>
            <a:ext cx="9692640" cy="1325562"/>
          </a:xfrm>
        </p:spPr>
        <p:txBody>
          <a:bodyPr/>
          <a:lstStyle/>
          <a:p>
            <a:r>
              <a:rPr lang="en-IN" dirty="0"/>
              <a:t>Motivation</a:t>
            </a:r>
          </a:p>
        </p:txBody>
      </p:sp>
      <p:sp>
        <p:nvSpPr>
          <p:cNvPr id="3" name="Content Placeholder 2">
            <a:extLst>
              <a:ext uri="{FF2B5EF4-FFF2-40B4-BE49-F238E27FC236}">
                <a16:creationId xmlns:a16="http://schemas.microsoft.com/office/drawing/2014/main" id="{2ECED748-1E89-89B7-AEF8-6CF4B79D1179}"/>
              </a:ext>
            </a:extLst>
          </p:cNvPr>
          <p:cNvSpPr>
            <a:spLocks noGrp="1"/>
          </p:cNvSpPr>
          <p:nvPr>
            <p:ph idx="1"/>
          </p:nvPr>
        </p:nvSpPr>
        <p:spPr>
          <a:xfrm>
            <a:off x="874596" y="1685017"/>
            <a:ext cx="10399417" cy="4629721"/>
          </a:xfrm>
        </p:spPr>
        <p:txBody>
          <a:bodyPr>
            <a:normAutofit/>
          </a:bodyPr>
          <a:lstStyle/>
          <a:p>
            <a:r>
              <a:rPr lang="en-US" dirty="0"/>
              <a:t>Growing demand for </a:t>
            </a:r>
            <a:r>
              <a:rPr lang="en-US" b="1" dirty="0"/>
              <a:t>low-latency</a:t>
            </a:r>
            <a:r>
              <a:rPr lang="en-US" dirty="0"/>
              <a:t>, </a:t>
            </a:r>
            <a:r>
              <a:rPr lang="en-US" b="1" dirty="0"/>
              <a:t>high-throughput</a:t>
            </a:r>
            <a:r>
              <a:rPr lang="en-US" dirty="0"/>
              <a:t>, and </a:t>
            </a:r>
            <a:r>
              <a:rPr lang="en-US" b="1" dirty="0"/>
              <a:t>service-differentiated</a:t>
            </a:r>
            <a:r>
              <a:rPr lang="en-US" dirty="0"/>
              <a:t> mobile networks.</a:t>
            </a:r>
          </a:p>
          <a:p>
            <a:r>
              <a:rPr lang="en-US" dirty="0"/>
              <a:t>4G EPC lacks native support for </a:t>
            </a:r>
            <a:r>
              <a:rPr lang="en-US" b="1" dirty="0"/>
              <a:t>network slicing</a:t>
            </a:r>
            <a:r>
              <a:rPr lang="en-US" dirty="0"/>
              <a:t> and </a:t>
            </a:r>
            <a:r>
              <a:rPr lang="en-US" b="1" dirty="0"/>
              <a:t>multi-UPF routing</a:t>
            </a:r>
            <a:r>
              <a:rPr lang="en-US" dirty="0"/>
              <a:t>.</a:t>
            </a:r>
          </a:p>
          <a:p>
            <a:r>
              <a:rPr lang="en-US" dirty="0"/>
              <a:t>5G requires </a:t>
            </a:r>
            <a:r>
              <a:rPr lang="en-US" b="1" dirty="0"/>
              <a:t>isolation of services</a:t>
            </a:r>
            <a:r>
              <a:rPr lang="en-US" dirty="0"/>
              <a:t> such as VoIP, streaming, and general internet traffic.</a:t>
            </a:r>
          </a:p>
          <a:p>
            <a:r>
              <a:rPr lang="en-US" dirty="0"/>
              <a:t>Operators need </a:t>
            </a:r>
            <a:r>
              <a:rPr lang="en-US" b="1" dirty="0"/>
              <a:t>flexible user-plane routing</a:t>
            </a:r>
            <a:r>
              <a:rPr lang="en-US" dirty="0"/>
              <a:t> and </a:t>
            </a:r>
            <a:r>
              <a:rPr lang="en-US" b="1" dirty="0"/>
              <a:t>policy-based traffic control</a:t>
            </a:r>
            <a:r>
              <a:rPr lang="en-US" dirty="0"/>
              <a:t> for modern applications.</a:t>
            </a:r>
          </a:p>
          <a:p>
            <a:r>
              <a:rPr lang="en-US" dirty="0"/>
              <a:t>Understanding </a:t>
            </a:r>
            <a:r>
              <a:rPr lang="en-US" b="1" dirty="0"/>
              <a:t>packet traversal</a:t>
            </a:r>
            <a:r>
              <a:rPr lang="en-US" dirty="0"/>
              <a:t> is essential to analyze performance, QoS enforcement, and real network behavior.</a:t>
            </a:r>
            <a:endParaRPr lang="en-IN" dirty="0"/>
          </a:p>
        </p:txBody>
      </p:sp>
    </p:spTree>
    <p:extLst>
      <p:ext uri="{BB962C8B-B14F-4D97-AF65-F5344CB8AC3E}">
        <p14:creationId xmlns:p14="http://schemas.microsoft.com/office/powerpoint/2010/main" val="1876387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DB84B-D883-6315-2761-DF4F63DFBEED}"/>
              </a:ext>
            </a:extLst>
          </p:cNvPr>
          <p:cNvSpPr>
            <a:spLocks noGrp="1"/>
          </p:cNvSpPr>
          <p:nvPr>
            <p:ph type="title"/>
          </p:nvPr>
        </p:nvSpPr>
        <p:spPr/>
        <p:txBody>
          <a:bodyPr>
            <a:normAutofit fontScale="90000"/>
          </a:bodyPr>
          <a:lstStyle/>
          <a:p>
            <a:r>
              <a:rPr lang="en-IN" dirty="0"/>
              <a:t>Overview</a:t>
            </a:r>
            <a:br>
              <a:rPr lang="en-IN" dirty="0"/>
            </a:br>
            <a:endParaRPr lang="en-IN" dirty="0"/>
          </a:p>
        </p:txBody>
      </p:sp>
      <p:sp>
        <p:nvSpPr>
          <p:cNvPr id="3" name="Content Placeholder 2">
            <a:extLst>
              <a:ext uri="{FF2B5EF4-FFF2-40B4-BE49-F238E27FC236}">
                <a16:creationId xmlns:a16="http://schemas.microsoft.com/office/drawing/2014/main" id="{8F88B4C1-73E9-65EC-9C0C-789A272D8559}"/>
              </a:ext>
            </a:extLst>
          </p:cNvPr>
          <p:cNvSpPr>
            <a:spLocks noGrp="1"/>
          </p:cNvSpPr>
          <p:nvPr>
            <p:ph idx="1"/>
          </p:nvPr>
        </p:nvSpPr>
        <p:spPr>
          <a:xfrm>
            <a:off x="1366553" y="1439558"/>
            <a:ext cx="8911687" cy="4633028"/>
          </a:xfrm>
        </p:spPr>
        <p:txBody>
          <a:bodyPr>
            <a:normAutofit fontScale="92500" lnSpcReduction="10000"/>
          </a:bodyPr>
          <a:lstStyle/>
          <a:p>
            <a:r>
              <a:rPr lang="en-US" dirty="0"/>
              <a:t>Simulated complete </a:t>
            </a:r>
            <a:r>
              <a:rPr lang="en-US" b="1" dirty="0"/>
              <a:t>4G/5G packet traversal</a:t>
            </a:r>
            <a:r>
              <a:rPr lang="en-US" dirty="0"/>
              <a:t>, focusing on 5G’s advanced user-plane architecture.</a:t>
            </a:r>
          </a:p>
          <a:p>
            <a:r>
              <a:rPr lang="en-US" dirty="0"/>
              <a:t>Deployed a full </a:t>
            </a:r>
            <a:r>
              <a:rPr lang="en-US" b="1" dirty="0"/>
              <a:t>5G Core (Open5GS)</a:t>
            </a:r>
            <a:r>
              <a:rPr lang="en-US" dirty="0"/>
              <a:t> including AMF, SMF, UPF, NRF, PCF, AUSF, UDM, and NSSF</a:t>
            </a:r>
          </a:p>
          <a:p>
            <a:r>
              <a:rPr lang="en-US" dirty="0"/>
              <a:t>Implemented </a:t>
            </a:r>
            <a:r>
              <a:rPr lang="en-US" b="1" dirty="0"/>
              <a:t>three dedicated UPFs</a:t>
            </a:r>
            <a:r>
              <a:rPr lang="en-US" dirty="0"/>
              <a:t> for Internet, VoIP, and Streaming traffic.</a:t>
            </a:r>
          </a:p>
          <a:p>
            <a:r>
              <a:rPr lang="en-US" dirty="0"/>
              <a:t>Configured network slicing.</a:t>
            </a:r>
          </a:p>
          <a:p>
            <a:r>
              <a:rPr lang="en-US" dirty="0"/>
              <a:t>Employed </a:t>
            </a:r>
            <a:r>
              <a:rPr lang="en-US" b="1" dirty="0"/>
              <a:t>UERANSIM</a:t>
            </a:r>
            <a:r>
              <a:rPr lang="en-US" dirty="0"/>
              <a:t> to emulate two </a:t>
            </a:r>
            <a:r>
              <a:rPr lang="en-US" dirty="0" err="1"/>
              <a:t>gNBs</a:t>
            </a:r>
            <a:r>
              <a:rPr lang="en-US" dirty="0"/>
              <a:t> and multiple UEs for realistic mobility and traffic testing.</a:t>
            </a:r>
          </a:p>
          <a:p>
            <a:r>
              <a:rPr lang="en-US" dirty="0"/>
              <a:t>Integrated real application servers (</a:t>
            </a:r>
            <a:r>
              <a:rPr lang="en-US" b="1" dirty="0"/>
              <a:t>Asterisk VoIP</a:t>
            </a:r>
            <a:r>
              <a:rPr lang="en-US" dirty="0"/>
              <a:t> and </a:t>
            </a:r>
            <a:r>
              <a:rPr lang="en-US" b="1" dirty="0"/>
              <a:t>Nginx Media Server</a:t>
            </a:r>
            <a:r>
              <a:rPr lang="en-US" dirty="0"/>
              <a:t>) to generate slice-specific traffic.</a:t>
            </a:r>
          </a:p>
          <a:p>
            <a:r>
              <a:rPr lang="en-IN" dirty="0"/>
              <a:t>Validated </a:t>
            </a:r>
            <a:r>
              <a:rPr lang="en-IN" b="1" dirty="0"/>
              <a:t>PFCP signalling, GTP-U tunnelling, QoS enforcement (MBR)</a:t>
            </a:r>
            <a:r>
              <a:rPr lang="en-IN" dirty="0"/>
              <a:t> using Wireshark.</a:t>
            </a:r>
          </a:p>
          <a:p>
            <a:r>
              <a:rPr lang="en-US" dirty="0"/>
              <a:t>Used </a:t>
            </a:r>
            <a:r>
              <a:rPr lang="en-US" b="1" dirty="0"/>
              <a:t>Grafana + Prometheus</a:t>
            </a:r>
            <a:r>
              <a:rPr lang="en-US" dirty="0"/>
              <a:t> to monitor core and UPF performance metrics.</a:t>
            </a:r>
          </a:p>
        </p:txBody>
      </p:sp>
    </p:spTree>
    <p:extLst>
      <p:ext uri="{BB962C8B-B14F-4D97-AF65-F5344CB8AC3E}">
        <p14:creationId xmlns:p14="http://schemas.microsoft.com/office/powerpoint/2010/main" val="1074130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82201-705F-0F1C-03B0-1699805E1087}"/>
              </a:ext>
            </a:extLst>
          </p:cNvPr>
          <p:cNvSpPr>
            <a:spLocks noGrp="1"/>
          </p:cNvSpPr>
          <p:nvPr>
            <p:ph type="title"/>
          </p:nvPr>
        </p:nvSpPr>
        <p:spPr>
          <a:xfrm>
            <a:off x="644024" y="684110"/>
            <a:ext cx="5451976" cy="1060446"/>
          </a:xfrm>
        </p:spPr>
        <p:txBody>
          <a:bodyPr>
            <a:normAutofit/>
          </a:bodyPr>
          <a:lstStyle/>
          <a:p>
            <a:pPr algn="l"/>
            <a:r>
              <a:rPr lang="en-IN" sz="3000" dirty="0"/>
              <a:t>Fundamentals: 4G Packet Traversal</a:t>
            </a:r>
          </a:p>
        </p:txBody>
      </p:sp>
      <p:pic>
        <p:nvPicPr>
          <p:cNvPr id="6" name="Content Placeholder 5">
            <a:extLst>
              <a:ext uri="{FF2B5EF4-FFF2-40B4-BE49-F238E27FC236}">
                <a16:creationId xmlns:a16="http://schemas.microsoft.com/office/drawing/2014/main" id="{B8EAA911-C400-9E2C-B12C-5DBB25FE7CC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51178" y="1890498"/>
            <a:ext cx="5896798" cy="3077004"/>
          </a:xfrm>
        </p:spPr>
      </p:pic>
      <p:sp>
        <p:nvSpPr>
          <p:cNvPr id="4" name="Text Placeholder 3">
            <a:extLst>
              <a:ext uri="{FF2B5EF4-FFF2-40B4-BE49-F238E27FC236}">
                <a16:creationId xmlns:a16="http://schemas.microsoft.com/office/drawing/2014/main" id="{2D93A730-BFCF-C861-B11A-1607AE149CEF}"/>
              </a:ext>
            </a:extLst>
          </p:cNvPr>
          <p:cNvSpPr>
            <a:spLocks noGrp="1"/>
          </p:cNvSpPr>
          <p:nvPr>
            <p:ph type="body" sz="half" idx="2"/>
          </p:nvPr>
        </p:nvSpPr>
        <p:spPr>
          <a:xfrm>
            <a:off x="644024" y="1890498"/>
            <a:ext cx="4134317" cy="4262436"/>
          </a:xfrm>
        </p:spPr>
        <p:txBody>
          <a:bodyPr>
            <a:normAutofit/>
          </a:bodyPr>
          <a:lstStyle/>
          <a:p>
            <a:pPr marL="285750" indent="-285750" algn="l">
              <a:buFont typeface="Arial" panose="020B0604020202020204" pitchFamily="34" charset="0"/>
              <a:buChar char="•"/>
            </a:pPr>
            <a:r>
              <a:rPr lang="en-IN" sz="1600" dirty="0"/>
              <a:t>Traffic flows as:</a:t>
            </a:r>
            <a:br>
              <a:rPr lang="en-IN" sz="1600" dirty="0"/>
            </a:br>
            <a:r>
              <a:rPr lang="en-IN" sz="1600" b="1" dirty="0"/>
              <a:t>UE → </a:t>
            </a:r>
            <a:r>
              <a:rPr lang="en-IN" sz="1600" b="1" dirty="0" err="1"/>
              <a:t>eNodeB</a:t>
            </a:r>
            <a:r>
              <a:rPr lang="en-IN" sz="1600" b="1" dirty="0"/>
              <a:t> → SGW → PGW → Internet</a:t>
            </a:r>
          </a:p>
          <a:p>
            <a:pPr marL="285750" indent="-285750" algn="l">
              <a:buFont typeface="Arial" panose="020B0604020202020204" pitchFamily="34" charset="0"/>
              <a:buChar char="•"/>
            </a:pPr>
            <a:r>
              <a:rPr lang="en-US" sz="1600" dirty="0"/>
              <a:t>SGW + PGW anchor and route all user traffic.</a:t>
            </a:r>
          </a:p>
          <a:p>
            <a:pPr marL="285750" indent="-285750" algn="l">
              <a:buFont typeface="Arial" panose="020B0604020202020204" pitchFamily="34" charset="0"/>
              <a:buChar char="•"/>
            </a:pPr>
            <a:r>
              <a:rPr lang="en-US" sz="1600" b="1" dirty="0"/>
              <a:t>Limited Policy Control</a:t>
            </a:r>
          </a:p>
          <a:p>
            <a:pPr marL="742950" lvl="1" indent="-285750">
              <a:buFont typeface="Arial" panose="020B0604020202020204" pitchFamily="34" charset="0"/>
              <a:buChar char="•"/>
            </a:pPr>
            <a:r>
              <a:rPr lang="en-US" sz="1600" dirty="0"/>
              <a:t>No PFCP; only </a:t>
            </a:r>
            <a:r>
              <a:rPr lang="en-US" sz="1600" b="1" dirty="0"/>
              <a:t>GTP-C</a:t>
            </a:r>
            <a:r>
              <a:rPr lang="en-US" sz="1600" dirty="0"/>
              <a:t> controls bearer setup.</a:t>
            </a:r>
          </a:p>
          <a:p>
            <a:pPr marL="742950" lvl="1" indent="-285750">
              <a:buFont typeface="Arial" panose="020B0604020202020204" pitchFamily="34" charset="0"/>
              <a:buChar char="•"/>
            </a:pPr>
            <a:r>
              <a:rPr lang="en-US" sz="1600" dirty="0"/>
              <a:t>Lacks dynamic routing, per-service paths, or slicing.</a:t>
            </a:r>
          </a:p>
          <a:p>
            <a:pPr marL="742950" lvl="1" indent="-285750">
              <a:buFont typeface="Arial" panose="020B0604020202020204" pitchFamily="34" charset="0"/>
              <a:buChar char="•"/>
            </a:pPr>
            <a:r>
              <a:rPr lang="en-US" sz="1600" dirty="0"/>
              <a:t>All services (VoIP, streaming, browsing) share the same EPC core path.</a:t>
            </a:r>
          </a:p>
          <a:p>
            <a:pPr lvl="1"/>
            <a:endParaRPr lang="en-US" sz="1600" dirty="0"/>
          </a:p>
          <a:p>
            <a:pPr lvl="1"/>
            <a:endParaRPr lang="en-US" dirty="0"/>
          </a:p>
          <a:p>
            <a:pPr marL="628650" lvl="1" indent="-171450">
              <a:buFont typeface="Arial" panose="020B0604020202020204" pitchFamily="34" charset="0"/>
              <a:buChar char="•"/>
            </a:pPr>
            <a:endParaRPr lang="en-US"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457324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C1D5B-DBF6-97FF-66DF-77C4649B678F}"/>
              </a:ext>
            </a:extLst>
          </p:cNvPr>
          <p:cNvSpPr>
            <a:spLocks noGrp="1"/>
          </p:cNvSpPr>
          <p:nvPr>
            <p:ph type="ctrTitle"/>
          </p:nvPr>
        </p:nvSpPr>
        <p:spPr>
          <a:xfrm>
            <a:off x="1370693" y="347241"/>
            <a:ext cx="9440034" cy="623647"/>
          </a:xfrm>
        </p:spPr>
        <p:txBody>
          <a:bodyPr>
            <a:normAutofit fontScale="90000"/>
          </a:bodyPr>
          <a:lstStyle/>
          <a:p>
            <a:r>
              <a:rPr lang="en-US" sz="3500" dirty="0"/>
              <a:t>Why 4G Fails to Support True Network Slicing ?</a:t>
            </a:r>
            <a:endParaRPr lang="en-IN" sz="3500" dirty="0"/>
          </a:p>
        </p:txBody>
      </p:sp>
      <p:sp>
        <p:nvSpPr>
          <p:cNvPr id="3" name="Subtitle 2">
            <a:extLst>
              <a:ext uri="{FF2B5EF4-FFF2-40B4-BE49-F238E27FC236}">
                <a16:creationId xmlns:a16="http://schemas.microsoft.com/office/drawing/2014/main" id="{87F008FF-819D-BBE9-FC4E-CF7E182BE391}"/>
              </a:ext>
            </a:extLst>
          </p:cNvPr>
          <p:cNvSpPr>
            <a:spLocks noGrp="1"/>
          </p:cNvSpPr>
          <p:nvPr>
            <p:ph type="subTitle" idx="1"/>
          </p:nvPr>
        </p:nvSpPr>
        <p:spPr>
          <a:xfrm>
            <a:off x="1261641" y="1088021"/>
            <a:ext cx="9664860" cy="5092860"/>
          </a:xfrm>
        </p:spPr>
        <p:txBody>
          <a:bodyPr>
            <a:normAutofit/>
          </a:bodyPr>
          <a:lstStyle/>
          <a:p>
            <a:pPr marL="342900" indent="-342900" algn="l">
              <a:buFont typeface="Arial" panose="020B0604020202020204" pitchFamily="34" charset="0"/>
              <a:buChar char="•"/>
            </a:pPr>
            <a:r>
              <a:rPr lang="en-US" dirty="0"/>
              <a:t>EPC uses a </a:t>
            </a:r>
            <a:r>
              <a:rPr lang="en-US" b="1" dirty="0"/>
              <a:t>monolithic user-plane</a:t>
            </a:r>
            <a:r>
              <a:rPr lang="en-US" dirty="0"/>
              <a:t> → one S-GW &amp; P-GW for all services</a:t>
            </a:r>
          </a:p>
          <a:p>
            <a:pPr marL="342900" indent="-342900" algn="l">
              <a:buFont typeface="Arial" panose="020B0604020202020204" pitchFamily="34" charset="0"/>
              <a:buChar char="•"/>
            </a:pPr>
            <a:r>
              <a:rPr lang="en-US" dirty="0"/>
              <a:t>No concept of </a:t>
            </a:r>
            <a:r>
              <a:rPr lang="en-US" b="1" dirty="0"/>
              <a:t>SST/SD</a:t>
            </a:r>
            <a:r>
              <a:rPr lang="en-US" dirty="0"/>
              <a:t>, no per-service logical networks</a:t>
            </a:r>
          </a:p>
          <a:p>
            <a:pPr marL="342900" indent="-342900" algn="l">
              <a:buFont typeface="Arial" panose="020B0604020202020204" pitchFamily="34" charset="0"/>
              <a:buChar char="•"/>
            </a:pPr>
            <a:r>
              <a:rPr lang="en-US" dirty="0"/>
              <a:t>QoS based only on </a:t>
            </a:r>
            <a:r>
              <a:rPr lang="en-US" b="1" dirty="0"/>
              <a:t>EPS bearers</a:t>
            </a:r>
            <a:r>
              <a:rPr lang="en-US" dirty="0"/>
              <a:t>, limited flexibility &amp; coarse-grained</a:t>
            </a:r>
          </a:p>
          <a:p>
            <a:pPr marL="342900" indent="-342900" algn="l">
              <a:buFont typeface="Arial" panose="020B0604020202020204" pitchFamily="34" charset="0"/>
              <a:buChar char="•"/>
            </a:pPr>
            <a:r>
              <a:rPr lang="en-US" b="1" dirty="0"/>
              <a:t>No multi-UPF routing</a:t>
            </a:r>
            <a:r>
              <a:rPr lang="en-US" dirty="0"/>
              <a:t> → cannot route traffic type</a:t>
            </a:r>
          </a:p>
          <a:p>
            <a:pPr marL="342900" indent="-342900" algn="l">
              <a:buFont typeface="Arial" panose="020B0604020202020204" pitchFamily="34" charset="0"/>
              <a:buChar char="•"/>
            </a:pPr>
            <a:r>
              <a:rPr lang="en-US" b="1" dirty="0"/>
              <a:t>No service isolation</a:t>
            </a:r>
            <a:r>
              <a:rPr lang="en-US" dirty="0"/>
              <a:t> → VoIP, streaming, IoT, web all mix in same routes to different gateways</a:t>
            </a:r>
          </a:p>
          <a:p>
            <a:pPr marL="342900" indent="-342900" algn="l">
              <a:buFont typeface="Arial" panose="020B0604020202020204" pitchFamily="34" charset="0"/>
              <a:buChar char="•"/>
            </a:pPr>
            <a:r>
              <a:rPr lang="en-US" b="1" dirty="0"/>
              <a:t>Control/User Plane tightly coupled</a:t>
            </a:r>
            <a:r>
              <a:rPr lang="en-US" dirty="0"/>
              <a:t> (before CUPS release)</a:t>
            </a:r>
          </a:p>
          <a:p>
            <a:pPr marL="342900" indent="-342900" algn="l">
              <a:buFont typeface="Arial" panose="020B0604020202020204" pitchFamily="34" charset="0"/>
              <a:buChar char="•"/>
            </a:pPr>
            <a:r>
              <a:rPr lang="en-US" dirty="0"/>
              <a:t>CUPS (4G Release 14) still </a:t>
            </a:r>
            <a:r>
              <a:rPr lang="en-US" b="1" dirty="0"/>
              <a:t>does not enable full slicing</a:t>
            </a:r>
            <a:r>
              <a:rPr lang="en-US" dirty="0"/>
              <a:t>; no NSSF, no per-slice AMF/SMF equivalents</a:t>
            </a:r>
            <a:endParaRPr lang="en-IN" dirty="0"/>
          </a:p>
        </p:txBody>
      </p:sp>
    </p:spTree>
    <p:extLst>
      <p:ext uri="{BB962C8B-B14F-4D97-AF65-F5344CB8AC3E}">
        <p14:creationId xmlns:p14="http://schemas.microsoft.com/office/powerpoint/2010/main" val="2586139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E589A-7520-C90F-E720-FFA1AE91A7B5}"/>
              </a:ext>
            </a:extLst>
          </p:cNvPr>
          <p:cNvSpPr>
            <a:spLocks noGrp="1"/>
          </p:cNvSpPr>
          <p:nvPr>
            <p:ph type="title"/>
          </p:nvPr>
        </p:nvSpPr>
        <p:spPr>
          <a:xfrm>
            <a:off x="578069" y="690946"/>
            <a:ext cx="5934949" cy="971451"/>
          </a:xfrm>
        </p:spPr>
        <p:txBody>
          <a:bodyPr/>
          <a:lstStyle/>
          <a:p>
            <a:pPr algn="l"/>
            <a:r>
              <a:rPr lang="en-IN" dirty="0"/>
              <a:t>Network </a:t>
            </a:r>
            <a:r>
              <a:rPr lang="en-IN" dirty="0">
                <a:latin typeface="Aptos Narrow" panose="020B0004020202020204" pitchFamily="34" charset="0"/>
              </a:rPr>
              <a:t>Slicing in 5G</a:t>
            </a:r>
          </a:p>
        </p:txBody>
      </p:sp>
      <p:sp>
        <p:nvSpPr>
          <p:cNvPr id="4" name="Text Placeholder 3">
            <a:extLst>
              <a:ext uri="{FF2B5EF4-FFF2-40B4-BE49-F238E27FC236}">
                <a16:creationId xmlns:a16="http://schemas.microsoft.com/office/drawing/2014/main" id="{4BD33EFE-EEE4-09B2-3BCC-F5E7E732ADA4}"/>
              </a:ext>
            </a:extLst>
          </p:cNvPr>
          <p:cNvSpPr>
            <a:spLocks noGrp="1"/>
          </p:cNvSpPr>
          <p:nvPr>
            <p:ph type="body" sz="half" idx="2"/>
          </p:nvPr>
        </p:nvSpPr>
        <p:spPr>
          <a:xfrm>
            <a:off x="659152" y="1882588"/>
            <a:ext cx="5772785" cy="3932807"/>
          </a:xfrm>
        </p:spPr>
        <p:txBody>
          <a:bodyPr>
            <a:normAutofit/>
          </a:bodyPr>
          <a:lstStyle/>
          <a:p>
            <a:pPr marL="342900" indent="-342900" algn="l">
              <a:buFont typeface="Arial" panose="020B0604020202020204" pitchFamily="34" charset="0"/>
              <a:buChar char="•"/>
            </a:pPr>
            <a:r>
              <a:rPr lang="de-DE" sz="2000" dirty="0">
                <a:latin typeface="Calisto MT (Body)"/>
                <a:cs typeface="Times New Roman" panose="02020603050405020304" pitchFamily="18" charset="0"/>
              </a:rPr>
              <a:t>5g network slicing enables multiple logical networks over the same physical network.</a:t>
            </a:r>
          </a:p>
          <a:p>
            <a:pPr marL="342900" indent="-342900" algn="l">
              <a:buFont typeface="Arial" panose="020B0604020202020204" pitchFamily="34" charset="0"/>
              <a:buChar char="•"/>
            </a:pPr>
            <a:r>
              <a:rPr lang="de-DE" sz="2000" dirty="0">
                <a:latin typeface="Calisto MT (Body)"/>
                <a:cs typeface="Times New Roman" panose="02020603050405020304" pitchFamily="18" charset="0"/>
              </a:rPr>
              <a:t>Each user is assigned a slice using (SST, SD)</a:t>
            </a:r>
          </a:p>
          <a:p>
            <a:pPr marL="342900" indent="-342900" algn="l">
              <a:buFont typeface="Arial" panose="020B0604020202020204" pitchFamily="34" charset="0"/>
              <a:buChar char="•"/>
            </a:pPr>
            <a:r>
              <a:rPr lang="en-US" sz="2000" dirty="0">
                <a:latin typeface="Calisto MT (Body)"/>
              </a:rPr>
              <a:t>Each slice maps to a specific SMF + UPF chain in our design (SD1 → UPF1, SD2 → UPF2, SD3 → UPF3).</a:t>
            </a:r>
          </a:p>
          <a:p>
            <a:pPr marL="342900" indent="-342900" algn="l">
              <a:buFont typeface="Arial" panose="020B0604020202020204" pitchFamily="34" charset="0"/>
              <a:buChar char="•"/>
            </a:pPr>
            <a:r>
              <a:rPr lang="en-US" sz="2000" dirty="0"/>
              <a:t>Traffic isolation ensures independent QoS handling, routing paths, and rate limits.</a:t>
            </a:r>
          </a:p>
          <a:p>
            <a:pPr marL="342900" indent="-342900" algn="l">
              <a:buFont typeface="Arial" panose="020B0604020202020204" pitchFamily="34" charset="0"/>
              <a:buChar char="•"/>
            </a:pPr>
            <a:r>
              <a:rPr lang="en-US" sz="2000" dirty="0"/>
              <a:t>Allows VoIP, streaming, and general internet to coexist without interfering.	</a:t>
            </a:r>
            <a:endParaRPr lang="en-IN" sz="2000" dirty="0">
              <a:latin typeface="Aptos Narrow" panose="020B0004020202020204" pitchFamily="34" charset="0"/>
            </a:endParaRPr>
          </a:p>
        </p:txBody>
      </p:sp>
      <p:pic>
        <p:nvPicPr>
          <p:cNvPr id="6" name="Picture 5" descr="What is 5G Network Slicing?">
            <a:extLst>
              <a:ext uri="{FF2B5EF4-FFF2-40B4-BE49-F238E27FC236}">
                <a16:creationId xmlns:a16="http://schemas.microsoft.com/office/drawing/2014/main" id="{83CE5C34-9BCD-783B-CD76-59981BF6A22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686580" y="1882588"/>
            <a:ext cx="5334160" cy="3560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0059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BA6BE-AFA4-7D7D-DD34-008CA5FCE8A6}"/>
              </a:ext>
            </a:extLst>
          </p:cNvPr>
          <p:cNvSpPr>
            <a:spLocks noGrp="1"/>
          </p:cNvSpPr>
          <p:nvPr>
            <p:ph type="title"/>
          </p:nvPr>
        </p:nvSpPr>
        <p:spPr>
          <a:xfrm>
            <a:off x="-268942" y="2526471"/>
            <a:ext cx="3313355" cy="1438372"/>
          </a:xfrm>
        </p:spPr>
        <p:txBody>
          <a:bodyPr>
            <a:normAutofit/>
          </a:bodyPr>
          <a:lstStyle/>
          <a:p>
            <a:r>
              <a:rPr lang="en-IN" sz="2800" dirty="0"/>
              <a:t>5G - Network Architecture</a:t>
            </a:r>
            <a:br>
              <a:rPr lang="en-IN" sz="2800" dirty="0"/>
            </a:br>
            <a:r>
              <a:rPr lang="en-IN" sz="2800" dirty="0"/>
              <a:t>(Simulated)</a:t>
            </a:r>
          </a:p>
        </p:txBody>
      </p:sp>
      <p:pic>
        <p:nvPicPr>
          <p:cNvPr id="4" name="Picture 3">
            <a:extLst>
              <a:ext uri="{FF2B5EF4-FFF2-40B4-BE49-F238E27FC236}">
                <a16:creationId xmlns:a16="http://schemas.microsoft.com/office/drawing/2014/main" id="{F7BAD5BA-0478-30C6-FA79-62157FA27C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9411" y="366493"/>
            <a:ext cx="9265920" cy="6125013"/>
          </a:xfrm>
          <a:prstGeom prst="rect">
            <a:avLst/>
          </a:prstGeom>
        </p:spPr>
      </p:pic>
    </p:spTree>
    <p:extLst>
      <p:ext uri="{BB962C8B-B14F-4D97-AF65-F5344CB8AC3E}">
        <p14:creationId xmlns:p14="http://schemas.microsoft.com/office/powerpoint/2010/main" val="1389379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3E6AF-246C-F2D8-91A7-A7750B2AC5EA}"/>
              </a:ext>
            </a:extLst>
          </p:cNvPr>
          <p:cNvSpPr>
            <a:spLocks noGrp="1"/>
          </p:cNvSpPr>
          <p:nvPr>
            <p:ph type="title"/>
          </p:nvPr>
        </p:nvSpPr>
        <p:spPr>
          <a:xfrm>
            <a:off x="1295401" y="335665"/>
            <a:ext cx="9590550" cy="545739"/>
          </a:xfrm>
        </p:spPr>
        <p:txBody>
          <a:bodyPr>
            <a:noAutofit/>
          </a:bodyPr>
          <a:lstStyle/>
          <a:p>
            <a:r>
              <a:rPr lang="en-US" sz="3200" dirty="0"/>
              <a:t>IP Addressing Plan and Transport Network</a:t>
            </a:r>
            <a:endParaRPr lang="en-IN" sz="3200" dirty="0"/>
          </a:p>
        </p:txBody>
      </p:sp>
      <p:sp>
        <p:nvSpPr>
          <p:cNvPr id="3" name="Text Placeholder 2">
            <a:extLst>
              <a:ext uri="{FF2B5EF4-FFF2-40B4-BE49-F238E27FC236}">
                <a16:creationId xmlns:a16="http://schemas.microsoft.com/office/drawing/2014/main" id="{D92B7436-28FE-A9E1-BDAA-E5D3CDE9D377}"/>
              </a:ext>
            </a:extLst>
          </p:cNvPr>
          <p:cNvSpPr>
            <a:spLocks noGrp="1"/>
          </p:cNvSpPr>
          <p:nvPr>
            <p:ph type="body" idx="1"/>
          </p:nvPr>
        </p:nvSpPr>
        <p:spPr>
          <a:xfrm>
            <a:off x="1053296" y="983848"/>
            <a:ext cx="9832655" cy="5324355"/>
          </a:xfrm>
        </p:spPr>
        <p:txBody>
          <a:bodyPr/>
          <a:lstStyle/>
          <a:p>
            <a:pPr algn="l"/>
            <a:r>
              <a:rPr lang="en-US" dirty="0"/>
              <a:t>		A dedicated LXD bridge (br64) provides a stable 5G transport network:</a:t>
            </a:r>
          </a:p>
          <a:p>
            <a:pPr algn="l"/>
            <a:endParaRPr lang="en-IN" dirty="0"/>
          </a:p>
        </p:txBody>
      </p:sp>
      <p:pic>
        <p:nvPicPr>
          <p:cNvPr id="5" name="Picture 4">
            <a:extLst>
              <a:ext uri="{FF2B5EF4-FFF2-40B4-BE49-F238E27FC236}">
                <a16:creationId xmlns:a16="http://schemas.microsoft.com/office/drawing/2014/main" id="{7DD7E708-0772-EC91-5C7F-D9AB95A8970B}"/>
              </a:ext>
            </a:extLst>
          </p:cNvPr>
          <p:cNvPicPr>
            <a:picLocks noChangeAspect="1"/>
          </p:cNvPicPr>
          <p:nvPr/>
        </p:nvPicPr>
        <p:blipFill>
          <a:blip r:embed="rId2"/>
          <a:stretch>
            <a:fillRect/>
          </a:stretch>
        </p:blipFill>
        <p:spPr>
          <a:xfrm>
            <a:off x="2513539" y="1758778"/>
            <a:ext cx="7154273" cy="4115374"/>
          </a:xfrm>
          <a:prstGeom prst="rect">
            <a:avLst/>
          </a:prstGeom>
        </p:spPr>
      </p:pic>
    </p:spTree>
    <p:extLst>
      <p:ext uri="{BB962C8B-B14F-4D97-AF65-F5344CB8AC3E}">
        <p14:creationId xmlns:p14="http://schemas.microsoft.com/office/powerpoint/2010/main" val="2961286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85DDD-ACB0-B869-A6BE-1B74AA327A5F}"/>
              </a:ext>
            </a:extLst>
          </p:cNvPr>
          <p:cNvSpPr>
            <a:spLocks noGrp="1"/>
          </p:cNvSpPr>
          <p:nvPr>
            <p:ph type="ctrTitle"/>
          </p:nvPr>
        </p:nvSpPr>
        <p:spPr>
          <a:xfrm>
            <a:off x="1370693" y="393540"/>
            <a:ext cx="9440034" cy="554199"/>
          </a:xfrm>
        </p:spPr>
        <p:txBody>
          <a:bodyPr>
            <a:normAutofit fontScale="90000"/>
          </a:bodyPr>
          <a:lstStyle/>
          <a:p>
            <a:r>
              <a:rPr lang="en-US" sz="3600" dirty="0"/>
              <a:t>Network</a:t>
            </a:r>
            <a:r>
              <a:rPr lang="en-US" sz="3000" dirty="0"/>
              <a:t> Slicing in Our 5G Deployment</a:t>
            </a:r>
            <a:endParaRPr lang="en-IN" sz="3000" dirty="0"/>
          </a:p>
        </p:txBody>
      </p:sp>
      <p:sp>
        <p:nvSpPr>
          <p:cNvPr id="3" name="Subtitle 2">
            <a:extLst>
              <a:ext uri="{FF2B5EF4-FFF2-40B4-BE49-F238E27FC236}">
                <a16:creationId xmlns:a16="http://schemas.microsoft.com/office/drawing/2014/main" id="{48CA971A-6172-9DFD-D611-1FED67778139}"/>
              </a:ext>
            </a:extLst>
          </p:cNvPr>
          <p:cNvSpPr>
            <a:spLocks noGrp="1"/>
          </p:cNvSpPr>
          <p:nvPr>
            <p:ph type="subTitle" idx="1"/>
          </p:nvPr>
        </p:nvSpPr>
        <p:spPr>
          <a:xfrm>
            <a:off x="1370693" y="1215342"/>
            <a:ext cx="9440034" cy="5249117"/>
          </a:xfrm>
        </p:spPr>
        <p:txBody>
          <a:bodyPr/>
          <a:lstStyle/>
          <a:p>
            <a:pPr marL="342900" indent="-342900" algn="l">
              <a:buFont typeface="Arial" panose="020B0604020202020204" pitchFamily="34" charset="0"/>
              <a:buChar char="•"/>
            </a:pPr>
            <a:r>
              <a:rPr lang="en-US" dirty="0"/>
              <a:t>Implemented </a:t>
            </a:r>
            <a:r>
              <a:rPr lang="en-US" b="1" dirty="0"/>
              <a:t>SST = 1</a:t>
            </a:r>
            <a:r>
              <a:rPr lang="en-US" dirty="0"/>
              <a:t> with three Slice Differentiators: </a:t>
            </a:r>
            <a:r>
              <a:rPr lang="en-US" b="1" dirty="0"/>
              <a:t>SD = 1, 2, 3</a:t>
            </a:r>
          </a:p>
          <a:p>
            <a:pPr marL="342900" indent="-342900" algn="l">
              <a:buFont typeface="Arial" panose="020B0604020202020204" pitchFamily="34" charset="0"/>
              <a:buChar char="•"/>
            </a:pPr>
            <a:r>
              <a:rPr lang="en-US" dirty="0"/>
              <a:t>Each slice mapped to a </a:t>
            </a:r>
            <a:r>
              <a:rPr lang="en-US" b="1" dirty="0"/>
              <a:t>dedicated SMF + dedicated UPF</a:t>
            </a:r>
          </a:p>
          <a:p>
            <a:pPr marL="342900" indent="-342900" algn="l">
              <a:buFont typeface="Arial" panose="020B0604020202020204" pitchFamily="34" charset="0"/>
              <a:buChar char="•"/>
            </a:pPr>
            <a:r>
              <a:rPr lang="en-US" dirty="0"/>
              <a:t>UE assigned slice using </a:t>
            </a:r>
            <a:r>
              <a:rPr lang="en-US" b="1" dirty="0"/>
              <a:t>IMSIs mapped to SST/SD</a:t>
            </a:r>
          </a:p>
          <a:p>
            <a:pPr marL="342900" indent="-342900" algn="l">
              <a:buFont typeface="Arial" panose="020B0604020202020204" pitchFamily="34" charset="0"/>
              <a:buChar char="•"/>
            </a:pPr>
            <a:r>
              <a:rPr lang="en-IN" dirty="0"/>
              <a:t>Each slice gets:</a:t>
            </a:r>
          </a:p>
          <a:p>
            <a:pPr marL="800100" lvl="1" indent="-342900" algn="l">
              <a:buFont typeface="Arial" panose="020B0604020202020204" pitchFamily="34" charset="0"/>
              <a:buChar char="•"/>
            </a:pPr>
            <a:r>
              <a:rPr lang="en-IN" dirty="0"/>
              <a:t>its own </a:t>
            </a:r>
            <a:r>
              <a:rPr lang="en-IN" b="1" dirty="0"/>
              <a:t>DNN</a:t>
            </a:r>
          </a:p>
          <a:p>
            <a:pPr marL="800100" lvl="1" indent="-342900" algn="l">
              <a:buFont typeface="Arial" panose="020B0604020202020204" pitchFamily="34" charset="0"/>
              <a:buChar char="•"/>
            </a:pPr>
            <a:r>
              <a:rPr lang="en-IN" dirty="0"/>
              <a:t>its own </a:t>
            </a:r>
            <a:r>
              <a:rPr lang="en-IN" b="1" dirty="0"/>
              <a:t>subnet</a:t>
            </a:r>
          </a:p>
          <a:p>
            <a:pPr marL="800100" lvl="1" indent="-342900" algn="l">
              <a:buFont typeface="Arial" panose="020B0604020202020204" pitchFamily="34" charset="0"/>
              <a:buChar char="•"/>
            </a:pPr>
            <a:r>
              <a:rPr lang="en-US" dirty="0"/>
              <a:t>its own </a:t>
            </a:r>
            <a:r>
              <a:rPr lang="en-US" b="1" dirty="0"/>
              <a:t>traffic characteristics (latency / throughput constraints)</a:t>
            </a:r>
            <a:endParaRPr lang="en-IN" dirty="0"/>
          </a:p>
        </p:txBody>
      </p:sp>
    </p:spTree>
    <p:extLst>
      <p:ext uri="{BB962C8B-B14F-4D97-AF65-F5344CB8AC3E}">
        <p14:creationId xmlns:p14="http://schemas.microsoft.com/office/powerpoint/2010/main" val="4124919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EE01-89D7-CF52-E68B-1F6D53009DC8}"/>
              </a:ext>
            </a:extLst>
          </p:cNvPr>
          <p:cNvSpPr>
            <a:spLocks noGrp="1"/>
          </p:cNvSpPr>
          <p:nvPr>
            <p:ph type="title"/>
          </p:nvPr>
        </p:nvSpPr>
        <p:spPr>
          <a:xfrm>
            <a:off x="913795" y="439837"/>
            <a:ext cx="10353762" cy="711949"/>
          </a:xfrm>
        </p:spPr>
        <p:txBody>
          <a:bodyPr>
            <a:normAutofit/>
          </a:bodyPr>
          <a:lstStyle/>
          <a:p>
            <a:r>
              <a:rPr lang="en-IN" sz="3200" dirty="0"/>
              <a:t>Slice Definitions</a:t>
            </a:r>
          </a:p>
        </p:txBody>
      </p:sp>
      <p:sp>
        <p:nvSpPr>
          <p:cNvPr id="3" name="Content Placeholder 2">
            <a:extLst>
              <a:ext uri="{FF2B5EF4-FFF2-40B4-BE49-F238E27FC236}">
                <a16:creationId xmlns:a16="http://schemas.microsoft.com/office/drawing/2014/main" id="{D5C7E203-248A-EF93-7174-B7F291705DD1}"/>
              </a:ext>
            </a:extLst>
          </p:cNvPr>
          <p:cNvSpPr>
            <a:spLocks noGrp="1"/>
          </p:cNvSpPr>
          <p:nvPr>
            <p:ph idx="1"/>
          </p:nvPr>
        </p:nvSpPr>
        <p:spPr>
          <a:xfrm>
            <a:off x="913795" y="1342663"/>
            <a:ext cx="5463856" cy="4448537"/>
          </a:xfrm>
        </p:spPr>
        <p:txBody>
          <a:bodyPr/>
          <a:lstStyle/>
          <a:p>
            <a:r>
              <a:rPr lang="da-DK"/>
              <a:t>Slice 1 (SD=1): General Internet</a:t>
            </a:r>
          </a:p>
          <a:p>
            <a:pPr lvl="1"/>
            <a:r>
              <a:rPr lang="en-IN"/>
              <a:t>UPF1</a:t>
            </a:r>
          </a:p>
          <a:p>
            <a:pPr lvl="1"/>
            <a:r>
              <a:rPr lang="en-IN"/>
              <a:t>DNN: </a:t>
            </a:r>
            <a:r>
              <a:rPr lang="en-IN" i="1"/>
              <a:t>internet</a:t>
            </a:r>
          </a:p>
          <a:p>
            <a:pPr lvl="1"/>
            <a:r>
              <a:rPr lang="en-IN"/>
              <a:t>Subnet: 10.45.0.0/16</a:t>
            </a:r>
          </a:p>
          <a:p>
            <a:pPr lvl="1"/>
            <a:r>
              <a:rPr lang="en-US"/>
              <a:t>Use-case: web browsing, general IP traffic</a:t>
            </a:r>
            <a:endParaRPr lang="en-IN"/>
          </a:p>
          <a:p>
            <a:r>
              <a:rPr lang="en-US"/>
              <a:t>Slice 2 (SD=2): VoIP</a:t>
            </a:r>
          </a:p>
          <a:p>
            <a:pPr lvl="1"/>
            <a:r>
              <a:rPr lang="en-IN"/>
              <a:t>UPF2</a:t>
            </a:r>
          </a:p>
          <a:p>
            <a:pPr lvl="1"/>
            <a:r>
              <a:rPr lang="en-IN"/>
              <a:t>DNN: </a:t>
            </a:r>
            <a:r>
              <a:rPr lang="en-IN" i="1"/>
              <a:t>voip</a:t>
            </a:r>
          </a:p>
          <a:p>
            <a:pPr lvl="1"/>
            <a:r>
              <a:rPr lang="en-IN"/>
              <a:t>Subnet: 10.46.0.0/16</a:t>
            </a:r>
          </a:p>
          <a:p>
            <a:pPr lvl="1"/>
            <a:r>
              <a:rPr lang="en-US"/>
              <a:t>Use-case: </a:t>
            </a:r>
            <a:r>
              <a:rPr lang="en-IN"/>
              <a:t>delay-sensitive, SIP/RTP flows</a:t>
            </a:r>
            <a:endParaRPr lang="en-IN" dirty="0"/>
          </a:p>
        </p:txBody>
      </p:sp>
      <p:sp>
        <p:nvSpPr>
          <p:cNvPr id="5" name="Content Placeholder 2">
            <a:extLst>
              <a:ext uri="{FF2B5EF4-FFF2-40B4-BE49-F238E27FC236}">
                <a16:creationId xmlns:a16="http://schemas.microsoft.com/office/drawing/2014/main" id="{B79678A9-AC9C-B644-803D-477CBD2B319B}"/>
              </a:ext>
            </a:extLst>
          </p:cNvPr>
          <p:cNvSpPr txBox="1">
            <a:spLocks/>
          </p:cNvSpPr>
          <p:nvPr/>
        </p:nvSpPr>
        <p:spPr>
          <a:xfrm>
            <a:off x="6728144" y="1342662"/>
            <a:ext cx="5463856" cy="4448537"/>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b="1" dirty="0"/>
              <a:t>Slice 3 (SD=3): Streaming</a:t>
            </a:r>
            <a:endParaRPr lang="en-US" dirty="0"/>
          </a:p>
          <a:p>
            <a:pPr lvl="1"/>
            <a:r>
              <a:rPr lang="en-US" dirty="0"/>
              <a:t>UPF3</a:t>
            </a:r>
          </a:p>
          <a:p>
            <a:pPr lvl="1"/>
            <a:r>
              <a:rPr lang="en-US" dirty="0"/>
              <a:t>DNN: </a:t>
            </a:r>
            <a:r>
              <a:rPr lang="en-US" i="1" dirty="0"/>
              <a:t>internet2</a:t>
            </a:r>
            <a:endParaRPr lang="en-US" dirty="0"/>
          </a:p>
          <a:p>
            <a:pPr lvl="1"/>
            <a:r>
              <a:rPr lang="en-US" dirty="0"/>
              <a:t>Subnet: 10.47.0.0/16</a:t>
            </a:r>
          </a:p>
          <a:p>
            <a:pPr lvl="1"/>
            <a:r>
              <a:rPr lang="en-US" dirty="0"/>
              <a:t>Use-case: buffered video download, throughput-intensive</a:t>
            </a:r>
          </a:p>
          <a:p>
            <a:endParaRPr lang="en-IN" dirty="0"/>
          </a:p>
        </p:txBody>
      </p:sp>
    </p:spTree>
    <p:extLst>
      <p:ext uri="{BB962C8B-B14F-4D97-AF65-F5344CB8AC3E}">
        <p14:creationId xmlns:p14="http://schemas.microsoft.com/office/powerpoint/2010/main" val="3799686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3281-BCDA-072A-996F-9F26F390B95B}"/>
              </a:ext>
            </a:extLst>
          </p:cNvPr>
          <p:cNvSpPr>
            <a:spLocks noGrp="1"/>
          </p:cNvSpPr>
          <p:nvPr>
            <p:ph type="title"/>
          </p:nvPr>
        </p:nvSpPr>
        <p:spPr/>
        <p:txBody>
          <a:bodyPr>
            <a:normAutofit/>
          </a:bodyPr>
          <a:lstStyle/>
          <a:p>
            <a:r>
              <a:rPr lang="en-US" sz="3200" dirty="0"/>
              <a:t>PDU Session Establishment for Each Slice</a:t>
            </a:r>
            <a:endParaRPr lang="en-IN" sz="3200" dirty="0"/>
          </a:p>
        </p:txBody>
      </p:sp>
      <p:sp>
        <p:nvSpPr>
          <p:cNvPr id="3" name="Content Placeholder 2">
            <a:extLst>
              <a:ext uri="{FF2B5EF4-FFF2-40B4-BE49-F238E27FC236}">
                <a16:creationId xmlns:a16="http://schemas.microsoft.com/office/drawing/2014/main" id="{6AEEF119-6257-6AA0-F64D-E674197243CB}"/>
              </a:ext>
            </a:extLst>
          </p:cNvPr>
          <p:cNvSpPr>
            <a:spLocks noGrp="1"/>
          </p:cNvSpPr>
          <p:nvPr>
            <p:ph idx="1"/>
          </p:nvPr>
        </p:nvSpPr>
        <p:spPr/>
        <p:txBody>
          <a:bodyPr/>
          <a:lstStyle/>
          <a:p>
            <a:r>
              <a:rPr lang="fr-FR" dirty="0"/>
              <a:t>UE </a:t>
            </a:r>
            <a:r>
              <a:rPr lang="fr-FR" dirty="0" err="1"/>
              <a:t>sends</a:t>
            </a:r>
            <a:r>
              <a:rPr lang="fr-FR" dirty="0"/>
              <a:t> Registration + PDU Session Establishment</a:t>
            </a:r>
          </a:p>
          <a:p>
            <a:r>
              <a:rPr lang="en-IN" dirty="0"/>
              <a:t>AMF consults NSSF – determines slice (SD=1/2/3)</a:t>
            </a:r>
          </a:p>
          <a:p>
            <a:r>
              <a:rPr lang="en-US" dirty="0"/>
              <a:t>AMF selects correct SMF instance</a:t>
            </a:r>
          </a:p>
          <a:p>
            <a:r>
              <a:rPr lang="en-US" dirty="0"/>
              <a:t>SMF establishes PFCP association with respective UPF</a:t>
            </a:r>
          </a:p>
          <a:p>
            <a:r>
              <a:rPr lang="en-US" dirty="0"/>
              <a:t>UE receives IP from slice-specific subnet</a:t>
            </a:r>
          </a:p>
          <a:p>
            <a:r>
              <a:rPr lang="en-US" dirty="0"/>
              <a:t>Traffic routed: UE → </a:t>
            </a:r>
            <a:r>
              <a:rPr lang="en-US" dirty="0" err="1"/>
              <a:t>gNB</a:t>
            </a:r>
            <a:r>
              <a:rPr lang="en-US" dirty="0"/>
              <a:t> → correct UPF → DN</a:t>
            </a:r>
            <a:endParaRPr lang="en-IN" dirty="0"/>
          </a:p>
        </p:txBody>
      </p:sp>
    </p:spTree>
    <p:extLst>
      <p:ext uri="{BB962C8B-B14F-4D97-AF65-F5344CB8AC3E}">
        <p14:creationId xmlns:p14="http://schemas.microsoft.com/office/powerpoint/2010/main" val="2169257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07091-C22D-E8BE-16B9-056AF93D822F}"/>
              </a:ext>
            </a:extLst>
          </p:cNvPr>
          <p:cNvSpPr>
            <a:spLocks noGrp="1"/>
          </p:cNvSpPr>
          <p:nvPr>
            <p:ph type="title"/>
          </p:nvPr>
        </p:nvSpPr>
        <p:spPr/>
        <p:txBody>
          <a:bodyPr/>
          <a:lstStyle/>
          <a:p>
            <a:r>
              <a:rPr lang="en-IN" dirty="0"/>
              <a:t>Open5gs </a:t>
            </a:r>
            <a:r>
              <a:rPr lang="en-IN" dirty="0" err="1"/>
              <a:t>WebUI</a:t>
            </a:r>
            <a:endParaRPr lang="en-IN" dirty="0"/>
          </a:p>
        </p:txBody>
      </p:sp>
      <p:pic>
        <p:nvPicPr>
          <p:cNvPr id="5" name="Content Placeholder 4">
            <a:extLst>
              <a:ext uri="{FF2B5EF4-FFF2-40B4-BE49-F238E27FC236}">
                <a16:creationId xmlns:a16="http://schemas.microsoft.com/office/drawing/2014/main" id="{350A49A5-7E59-D4CA-60B9-D3380FA81B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31400" y="1807266"/>
            <a:ext cx="8729428" cy="4503747"/>
          </a:xfrm>
        </p:spPr>
      </p:pic>
    </p:spTree>
    <p:extLst>
      <p:ext uri="{BB962C8B-B14F-4D97-AF65-F5344CB8AC3E}">
        <p14:creationId xmlns:p14="http://schemas.microsoft.com/office/powerpoint/2010/main" val="1169097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5BC7B-4960-3A39-9C12-E0C2A0B66B69}"/>
              </a:ext>
            </a:extLst>
          </p:cNvPr>
          <p:cNvSpPr>
            <a:spLocks noGrp="1"/>
          </p:cNvSpPr>
          <p:nvPr>
            <p:ph type="title"/>
          </p:nvPr>
        </p:nvSpPr>
        <p:spPr/>
        <p:txBody>
          <a:bodyPr>
            <a:normAutofit/>
          </a:bodyPr>
          <a:lstStyle/>
          <a:p>
            <a:r>
              <a:rPr lang="en-IN" dirty="0"/>
              <a:t>Tests &amp; Analysis</a:t>
            </a:r>
          </a:p>
        </p:txBody>
      </p:sp>
      <p:sp>
        <p:nvSpPr>
          <p:cNvPr id="7" name="Content Placeholder 6">
            <a:extLst>
              <a:ext uri="{FF2B5EF4-FFF2-40B4-BE49-F238E27FC236}">
                <a16:creationId xmlns:a16="http://schemas.microsoft.com/office/drawing/2014/main" id="{CC47E167-C84D-690E-1F07-553BD503DBDF}"/>
              </a:ext>
            </a:extLst>
          </p:cNvPr>
          <p:cNvSpPr>
            <a:spLocks noGrp="1"/>
          </p:cNvSpPr>
          <p:nvPr>
            <p:ph idx="1"/>
          </p:nvPr>
        </p:nvSpPr>
        <p:spPr/>
        <p:txBody>
          <a:bodyPr>
            <a:normAutofit/>
          </a:bodyPr>
          <a:lstStyle/>
          <a:p>
            <a:pPr marL="36900" indent="0">
              <a:buNone/>
            </a:pPr>
            <a:r>
              <a:rPr lang="en-IN" b="1" dirty="0"/>
              <a:t>Slice 1: General Internet (UPF1)</a:t>
            </a:r>
          </a:p>
          <a:p>
            <a:r>
              <a:rPr lang="en-US" dirty="0"/>
              <a:t>Test Conducted </a:t>
            </a:r>
          </a:p>
          <a:p>
            <a:pPr lvl="1"/>
            <a:r>
              <a:rPr lang="en-US" dirty="0"/>
              <a:t>Standard internet access was verified using the following commands from the UE terminal, routing through the uesimtun0 interface: </a:t>
            </a:r>
          </a:p>
          <a:p>
            <a:pPr lvl="1"/>
            <a:r>
              <a:rPr lang="en-US" dirty="0"/>
              <a:t>ping-I uesimtun0 google.com</a:t>
            </a:r>
          </a:p>
          <a:p>
            <a:r>
              <a:rPr lang="en-IN" sz="2200" dirty="0"/>
              <a:t>Expected Behaviour</a:t>
            </a:r>
          </a:p>
          <a:p>
            <a:pPr lvl="1"/>
            <a:r>
              <a:rPr lang="en-IN" dirty="0"/>
              <a:t>Routing: Packet traversal is UE → </a:t>
            </a:r>
            <a:r>
              <a:rPr lang="en-IN" dirty="0" err="1"/>
              <a:t>gNB</a:t>
            </a:r>
            <a:r>
              <a:rPr lang="en-IN" dirty="0"/>
              <a:t> → UPF1 → Host NAT → Public Internet. </a:t>
            </a:r>
          </a:p>
          <a:p>
            <a:pPr lvl="1"/>
            <a:r>
              <a:rPr lang="en-IN" dirty="0"/>
              <a:t>Latency: Higher latency (≈ 50 − 100 </a:t>
            </a:r>
            <a:r>
              <a:rPr lang="en-IN" dirty="0" err="1"/>
              <a:t>ms</a:t>
            </a:r>
            <a:r>
              <a:rPr lang="en-IN" dirty="0"/>
              <a:t>) is acceptable due to the reliance on external network hops. </a:t>
            </a:r>
          </a:p>
          <a:p>
            <a:pPr lvl="1"/>
            <a:r>
              <a:rPr lang="en-IN" dirty="0"/>
              <a:t>Encapsulation: Traffic is encapsulated in GTP-U between the </a:t>
            </a:r>
            <a:r>
              <a:rPr lang="en-IN" dirty="0" err="1"/>
              <a:t>gNB</a:t>
            </a:r>
            <a:r>
              <a:rPr lang="en-IN" dirty="0"/>
              <a:t> and UPF1</a:t>
            </a:r>
          </a:p>
          <a:p>
            <a:pPr marL="450000" lvl="1" indent="0">
              <a:buNone/>
            </a:pPr>
            <a:endParaRPr lang="en-IN" dirty="0"/>
          </a:p>
          <a:p>
            <a:pPr marL="36900" indent="0">
              <a:buNone/>
            </a:pPr>
            <a:endParaRPr lang="en-IN" dirty="0"/>
          </a:p>
        </p:txBody>
      </p:sp>
    </p:spTree>
    <p:extLst>
      <p:ext uri="{BB962C8B-B14F-4D97-AF65-F5344CB8AC3E}">
        <p14:creationId xmlns:p14="http://schemas.microsoft.com/office/powerpoint/2010/main" val="3873115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58DD4A97-8E9C-40AB-91DA-DC82349A9173}"/>
              </a:ext>
            </a:extLst>
          </p:cNvPr>
          <p:cNvPicPr>
            <a:picLocks noGrp="1" noChangeAspect="1"/>
          </p:cNvPicPr>
          <p:nvPr>
            <p:ph idx="1"/>
          </p:nvPr>
        </p:nvPicPr>
        <p:blipFill>
          <a:blip r:embed="rId2"/>
          <a:stretch>
            <a:fillRect/>
          </a:stretch>
        </p:blipFill>
        <p:spPr>
          <a:xfrm>
            <a:off x="822076" y="2153412"/>
            <a:ext cx="10547847" cy="2551176"/>
          </a:xfrm>
          <a:prstGeom prst="rect">
            <a:avLst/>
          </a:prstGeom>
        </p:spPr>
      </p:pic>
    </p:spTree>
    <p:extLst>
      <p:ext uri="{BB962C8B-B14F-4D97-AF65-F5344CB8AC3E}">
        <p14:creationId xmlns:p14="http://schemas.microsoft.com/office/powerpoint/2010/main" val="196095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CF787F5-E4E0-4285-B1CD-06F6C5225300}"/>
              </a:ext>
            </a:extLst>
          </p:cNvPr>
          <p:cNvPicPr>
            <a:picLocks noGrp="1" noChangeAspect="1"/>
          </p:cNvPicPr>
          <p:nvPr>
            <p:ph idx="1"/>
          </p:nvPr>
        </p:nvPicPr>
        <p:blipFill>
          <a:blip r:embed="rId2"/>
          <a:stretch>
            <a:fillRect/>
          </a:stretch>
        </p:blipFill>
        <p:spPr>
          <a:xfrm>
            <a:off x="1747648" y="609600"/>
            <a:ext cx="8686055" cy="5147747"/>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340313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D65F3-E32F-2B29-192B-3A425722AC14}"/>
              </a:ext>
            </a:extLst>
          </p:cNvPr>
          <p:cNvSpPr>
            <a:spLocks noGrp="1"/>
          </p:cNvSpPr>
          <p:nvPr>
            <p:ph type="title"/>
          </p:nvPr>
        </p:nvSpPr>
        <p:spPr>
          <a:xfrm>
            <a:off x="913795" y="417599"/>
            <a:ext cx="10353762" cy="970450"/>
          </a:xfrm>
        </p:spPr>
        <p:txBody>
          <a:bodyPr>
            <a:normAutofit/>
          </a:bodyPr>
          <a:lstStyle/>
          <a:p>
            <a:pPr algn="l"/>
            <a:r>
              <a:rPr lang="fr-FR" sz="2000" b="1" dirty="0"/>
              <a:t>Slice 2: </a:t>
            </a:r>
            <a:r>
              <a:rPr lang="fr-FR" sz="2000" b="1" dirty="0" err="1"/>
              <a:t>VoIP</a:t>
            </a:r>
            <a:r>
              <a:rPr lang="fr-FR" sz="2000" b="1" dirty="0"/>
              <a:t> Traffic (UPF2)</a:t>
            </a:r>
            <a:br>
              <a:rPr lang="fr-FR" sz="2000" dirty="0"/>
            </a:br>
            <a:endParaRPr lang="en-IN" sz="2000" dirty="0"/>
          </a:p>
        </p:txBody>
      </p:sp>
      <p:sp>
        <p:nvSpPr>
          <p:cNvPr id="3" name="Content Placeholder 2">
            <a:extLst>
              <a:ext uri="{FF2B5EF4-FFF2-40B4-BE49-F238E27FC236}">
                <a16:creationId xmlns:a16="http://schemas.microsoft.com/office/drawing/2014/main" id="{5AF96BF7-D7C4-1558-AEF2-2B9C2A9D4192}"/>
              </a:ext>
            </a:extLst>
          </p:cNvPr>
          <p:cNvSpPr>
            <a:spLocks noGrp="1"/>
          </p:cNvSpPr>
          <p:nvPr>
            <p:ph idx="1"/>
          </p:nvPr>
        </p:nvSpPr>
        <p:spPr>
          <a:xfrm>
            <a:off x="913795" y="1388049"/>
            <a:ext cx="10353762" cy="4969293"/>
          </a:xfrm>
        </p:spPr>
        <p:txBody>
          <a:bodyPr>
            <a:normAutofit/>
          </a:bodyPr>
          <a:lstStyle/>
          <a:p>
            <a:r>
              <a:rPr lang="en-US" dirty="0"/>
              <a:t>Test Conducted </a:t>
            </a:r>
          </a:p>
          <a:p>
            <a:pPr lvl="1"/>
            <a:r>
              <a:rPr lang="en-US" dirty="0"/>
              <a:t>A test sequence was executed to simulate SIP/VoIP traffic: </a:t>
            </a:r>
          </a:p>
          <a:p>
            <a:pPr lvl="1"/>
            <a:r>
              <a:rPr lang="en-US" dirty="0"/>
              <a:t>UERANSIM UE registers with the local Asterisk server. </a:t>
            </a:r>
          </a:p>
          <a:p>
            <a:pPr lvl="1"/>
            <a:r>
              <a:rPr lang="en-US" dirty="0"/>
              <a:t> A test SIP call is placed to initiate RTP traffic. </a:t>
            </a:r>
          </a:p>
          <a:p>
            <a:pPr lvl="1"/>
            <a:r>
              <a:rPr lang="en-US" dirty="0"/>
              <a:t> Traffic is analyzed using </a:t>
            </a:r>
            <a:r>
              <a:rPr lang="en-US" dirty="0" err="1"/>
              <a:t>sngrep</a:t>
            </a:r>
            <a:r>
              <a:rPr lang="en-US" dirty="0"/>
              <a:t> or a client on the UPF2 machine.</a:t>
            </a:r>
          </a:p>
          <a:p>
            <a:r>
              <a:rPr lang="en-IN" dirty="0"/>
              <a:t>Expected </a:t>
            </a:r>
            <a:r>
              <a:rPr lang="en-IN" dirty="0" err="1"/>
              <a:t>Behavior</a:t>
            </a:r>
            <a:endParaRPr lang="en-IN" dirty="0"/>
          </a:p>
          <a:p>
            <a:pPr lvl="1"/>
            <a:r>
              <a:rPr lang="en-US" dirty="0"/>
              <a:t>Routing (Local Breakout): Packet traversal is UE → </a:t>
            </a:r>
            <a:r>
              <a:rPr lang="en-US" dirty="0" err="1"/>
              <a:t>gNB</a:t>
            </a:r>
            <a:r>
              <a:rPr lang="en-US" dirty="0"/>
              <a:t> → UPF2 → Local SIP Server. The traffic avoids the central data network UERANSIM UE registers with the local Asterisk server. </a:t>
            </a:r>
          </a:p>
          <a:p>
            <a:pPr lvl="1"/>
            <a:r>
              <a:rPr lang="en-US" dirty="0"/>
              <a:t>QoS: Extremely low Jitter and Latency are expected, validating the 5QI=1 priority level and the local breakout. </a:t>
            </a:r>
          </a:p>
          <a:p>
            <a:pPr lvl="1"/>
            <a:r>
              <a:rPr lang="en-US" dirty="0"/>
              <a:t>Encapsulation: The RTP packets are decapsulated by UPF2 and sent as standard UDP packets to the local Asterisk server.</a:t>
            </a:r>
          </a:p>
          <a:p>
            <a:pPr lvl="1"/>
            <a:endParaRPr lang="en-IN" dirty="0"/>
          </a:p>
          <a:p>
            <a:pPr marL="36900" indent="0">
              <a:buNone/>
            </a:pPr>
            <a:endParaRPr lang="en-IN" dirty="0"/>
          </a:p>
          <a:p>
            <a:endParaRPr lang="en-IN" dirty="0"/>
          </a:p>
          <a:p>
            <a:endParaRPr lang="en-IN" dirty="0"/>
          </a:p>
        </p:txBody>
      </p:sp>
    </p:spTree>
    <p:extLst>
      <p:ext uri="{BB962C8B-B14F-4D97-AF65-F5344CB8AC3E}">
        <p14:creationId xmlns:p14="http://schemas.microsoft.com/office/powerpoint/2010/main" val="2521780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63543-53F8-2117-439D-54E4003EA0AB}"/>
              </a:ext>
            </a:extLst>
          </p:cNvPr>
          <p:cNvSpPr>
            <a:spLocks noGrp="1"/>
          </p:cNvSpPr>
          <p:nvPr>
            <p:ph type="title"/>
          </p:nvPr>
        </p:nvSpPr>
        <p:spPr>
          <a:xfrm>
            <a:off x="1149211" y="4820750"/>
            <a:ext cx="10353762" cy="970450"/>
          </a:xfrm>
        </p:spPr>
        <p:txBody>
          <a:bodyPr>
            <a:noAutofit/>
          </a:bodyPr>
          <a:lstStyle/>
          <a:p>
            <a:pPr algn="l"/>
            <a:r>
              <a:rPr lang="en-US" sz="1600" dirty="0"/>
              <a:t>SIP Session Flow- </a:t>
            </a:r>
            <a:r>
              <a:rPr lang="en-US" sz="1600" dirty="0" err="1"/>
              <a:t>sngrep</a:t>
            </a:r>
            <a:r>
              <a:rPr lang="en-US" sz="1600" dirty="0"/>
              <a:t> output captured on the Asterisk server (UPF2 N6 interface) detailing the SIP signaling flow. The successful REGISTER messages and the progression of INVITE Dialog 4 to the ’IN CALL’ state conclusively prove that the dedicated VoIP Slice (5QI=1) is fully operational, establishing the local breakout path through UPF2 necessary for low-latency media.</a:t>
            </a:r>
            <a:endParaRPr lang="en-IN" sz="1600" dirty="0"/>
          </a:p>
        </p:txBody>
      </p:sp>
      <p:sp>
        <p:nvSpPr>
          <p:cNvPr id="3" name="Content Placeholder 2">
            <a:extLst>
              <a:ext uri="{FF2B5EF4-FFF2-40B4-BE49-F238E27FC236}">
                <a16:creationId xmlns:a16="http://schemas.microsoft.com/office/drawing/2014/main" id="{2914D656-08D3-EE11-57E7-519494141FCA}"/>
              </a:ext>
            </a:extLst>
          </p:cNvPr>
          <p:cNvSpPr>
            <a:spLocks noGrp="1"/>
          </p:cNvSpPr>
          <p:nvPr>
            <p:ph idx="1"/>
          </p:nvPr>
        </p:nvSpPr>
        <p:spPr/>
        <p:txBody>
          <a:bodyPr/>
          <a:lstStyle/>
          <a:p>
            <a:r>
              <a:rPr lang="en-US" dirty="0"/>
              <a:t>Expected Behavior • Routing (Local Breakout): Packet traversal is UE → </a:t>
            </a:r>
            <a:r>
              <a:rPr lang="en-US" dirty="0" err="1"/>
              <a:t>gNB</a:t>
            </a:r>
            <a:r>
              <a:rPr lang="en-US" dirty="0"/>
              <a:t> → UPF2 → Local SIP Server. The traffic avoids the central data network. • </a:t>
            </a:r>
            <a:r>
              <a:rPr lang="en-US" dirty="0" err="1"/>
              <a:t>QoS:Extremely</a:t>
            </a:r>
            <a:r>
              <a:rPr lang="en-US" dirty="0"/>
              <a:t> low Jitter and Latency are expected, validating the 5QI=1 priority level and the local breakout. • Encapsulation: The RTP packets are decapsulated by UPF2 and sent as standard UDP packets to the local Asterisk server</a:t>
            </a:r>
            <a:endParaRPr lang="en-IN" dirty="0"/>
          </a:p>
        </p:txBody>
      </p:sp>
      <p:pic>
        <p:nvPicPr>
          <p:cNvPr id="5" name="Picture 4">
            <a:extLst>
              <a:ext uri="{FF2B5EF4-FFF2-40B4-BE49-F238E27FC236}">
                <a16:creationId xmlns:a16="http://schemas.microsoft.com/office/drawing/2014/main" id="{EE89F6EF-5EFA-0BD3-1566-35D05BD1259A}"/>
              </a:ext>
            </a:extLst>
          </p:cNvPr>
          <p:cNvPicPr>
            <a:picLocks noChangeAspect="1"/>
          </p:cNvPicPr>
          <p:nvPr/>
        </p:nvPicPr>
        <p:blipFill>
          <a:blip r:embed="rId3"/>
          <a:stretch>
            <a:fillRect/>
          </a:stretch>
        </p:blipFill>
        <p:spPr>
          <a:xfrm>
            <a:off x="1149211" y="525630"/>
            <a:ext cx="9882930" cy="3753545"/>
          </a:xfrm>
          <a:prstGeom prst="rect">
            <a:avLst/>
          </a:prstGeom>
        </p:spPr>
      </p:pic>
    </p:spTree>
    <p:extLst>
      <p:ext uri="{BB962C8B-B14F-4D97-AF65-F5344CB8AC3E}">
        <p14:creationId xmlns:p14="http://schemas.microsoft.com/office/powerpoint/2010/main" val="2712105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577E4-8D1C-AC22-8DFF-27930E772E22}"/>
              </a:ext>
            </a:extLst>
          </p:cNvPr>
          <p:cNvSpPr>
            <a:spLocks noGrp="1"/>
          </p:cNvSpPr>
          <p:nvPr>
            <p:ph type="title"/>
          </p:nvPr>
        </p:nvSpPr>
        <p:spPr/>
        <p:txBody>
          <a:bodyPr>
            <a:normAutofit/>
          </a:bodyPr>
          <a:lstStyle/>
          <a:p>
            <a:pPr algn="l"/>
            <a:r>
              <a:rPr lang="en-US" sz="2000" dirty="0"/>
              <a:t>Slice 3: Streaming Traffic (UPF3)</a:t>
            </a:r>
            <a:endParaRPr lang="en-IN" sz="2000" dirty="0"/>
          </a:p>
        </p:txBody>
      </p:sp>
      <p:sp>
        <p:nvSpPr>
          <p:cNvPr id="3" name="Content Placeholder 2">
            <a:extLst>
              <a:ext uri="{FF2B5EF4-FFF2-40B4-BE49-F238E27FC236}">
                <a16:creationId xmlns:a16="http://schemas.microsoft.com/office/drawing/2014/main" id="{38DFB06D-D670-74A1-3B21-4B579A239806}"/>
              </a:ext>
            </a:extLst>
          </p:cNvPr>
          <p:cNvSpPr>
            <a:spLocks noGrp="1"/>
          </p:cNvSpPr>
          <p:nvPr>
            <p:ph idx="1"/>
          </p:nvPr>
        </p:nvSpPr>
        <p:spPr/>
        <p:txBody>
          <a:bodyPr/>
          <a:lstStyle/>
          <a:p>
            <a:r>
              <a:rPr lang="en-US" dirty="0"/>
              <a:t>Test Executed </a:t>
            </a:r>
          </a:p>
          <a:p>
            <a:pPr lvl="1"/>
            <a:r>
              <a:rPr lang="en-US" dirty="0"/>
              <a:t>A large video file was downloaded from the local Nginx streaming server 192.168.64.50 to the UE using the curl utility. The command was set to capture the exact transfer time and average download speed in Bytes per second (B/s)</a:t>
            </a:r>
          </a:p>
          <a:p>
            <a:r>
              <a:rPr lang="en-IN" dirty="0"/>
              <a:t>Expected Behaviour</a:t>
            </a:r>
          </a:p>
          <a:p>
            <a:pPr lvl="1"/>
            <a:r>
              <a:rPr lang="en-US" dirty="0"/>
              <a:t>Routing: Packet flow is UE → </a:t>
            </a:r>
            <a:r>
              <a:rPr lang="en-US" dirty="0" err="1"/>
              <a:t>gNB</a:t>
            </a:r>
            <a:r>
              <a:rPr lang="en-US" dirty="0"/>
              <a:t> → UPF3 → Local Nginx Server</a:t>
            </a:r>
          </a:p>
          <a:p>
            <a:pPr lvl="1"/>
            <a:r>
              <a:rPr lang="en-US" dirty="0"/>
              <a:t>Policy Enforcement: The transfer rate should be limited close to the configured Downlink MBR of 10 Mbps (which translates to ≈ 1,250,000 B/s), thereby confirming the QER policy programmed via PFCP.</a:t>
            </a:r>
            <a:endParaRPr lang="en-IN" dirty="0"/>
          </a:p>
        </p:txBody>
      </p:sp>
    </p:spTree>
    <p:extLst>
      <p:ext uri="{BB962C8B-B14F-4D97-AF65-F5344CB8AC3E}">
        <p14:creationId xmlns:p14="http://schemas.microsoft.com/office/powerpoint/2010/main" val="3393108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3CBFF-5BC3-C899-C5BB-751383F84A7E}"/>
              </a:ext>
            </a:extLst>
          </p:cNvPr>
          <p:cNvSpPr>
            <a:spLocks noGrp="1"/>
          </p:cNvSpPr>
          <p:nvPr>
            <p:ph type="title"/>
          </p:nvPr>
        </p:nvSpPr>
        <p:spPr>
          <a:xfrm>
            <a:off x="613556" y="3260150"/>
            <a:ext cx="10353762" cy="970450"/>
          </a:xfrm>
        </p:spPr>
        <p:txBody>
          <a:bodyPr>
            <a:noAutofit/>
          </a:bodyPr>
          <a:lstStyle/>
          <a:p>
            <a:pPr algn="l"/>
            <a:r>
              <a:rPr lang="en-US" sz="2000" dirty="0"/>
              <a:t>Throughput = 1,211,583 B/s ×8 bits/byte/1,000,000 ≈ 9.69 Mbps </a:t>
            </a:r>
            <a:br>
              <a:rPr lang="en-US" sz="2000" dirty="0"/>
            </a:br>
            <a:r>
              <a:rPr lang="en-US" sz="2000" dirty="0"/>
              <a:t>This calculated throughput of 9.69 Mbps is within the expected tolerance (≈ 3% variance) of the configured 10 Mbps Downlink MBR.</a:t>
            </a:r>
            <a:endParaRPr lang="en-IN" sz="2000" dirty="0"/>
          </a:p>
        </p:txBody>
      </p:sp>
      <p:pic>
        <p:nvPicPr>
          <p:cNvPr id="5" name="Picture 4">
            <a:extLst>
              <a:ext uri="{FF2B5EF4-FFF2-40B4-BE49-F238E27FC236}">
                <a16:creationId xmlns:a16="http://schemas.microsoft.com/office/drawing/2014/main" id="{44B4C1E2-060F-C6D6-BB3B-38DF68D9C3D6}"/>
              </a:ext>
            </a:extLst>
          </p:cNvPr>
          <p:cNvPicPr>
            <a:picLocks noChangeAspect="1"/>
          </p:cNvPicPr>
          <p:nvPr/>
        </p:nvPicPr>
        <p:blipFill>
          <a:blip r:embed="rId2"/>
          <a:stretch>
            <a:fillRect/>
          </a:stretch>
        </p:blipFill>
        <p:spPr>
          <a:xfrm>
            <a:off x="613556" y="1543130"/>
            <a:ext cx="10964888" cy="1084271"/>
          </a:xfrm>
          <a:prstGeom prst="rect">
            <a:avLst/>
          </a:prstGeom>
        </p:spPr>
      </p:pic>
    </p:spTree>
    <p:extLst>
      <p:ext uri="{BB962C8B-B14F-4D97-AF65-F5344CB8AC3E}">
        <p14:creationId xmlns:p14="http://schemas.microsoft.com/office/powerpoint/2010/main" val="4043271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52E9A-E269-4FC6-135B-333B5F99EFD8}"/>
              </a:ext>
            </a:extLst>
          </p:cNvPr>
          <p:cNvSpPr>
            <a:spLocks noGrp="1"/>
          </p:cNvSpPr>
          <p:nvPr>
            <p:ph type="title"/>
          </p:nvPr>
        </p:nvSpPr>
        <p:spPr/>
        <p:txBody>
          <a:bodyPr>
            <a:normAutofit/>
          </a:bodyPr>
          <a:lstStyle/>
          <a:p>
            <a:pPr algn="l"/>
            <a:r>
              <a:rPr lang="en-US" sz="2000" b="1" dirty="0"/>
              <a:t>QoS Validation via High-Load Performance (</a:t>
            </a:r>
            <a:r>
              <a:rPr lang="en-US" sz="2000" b="1" dirty="0" err="1"/>
              <a:t>iperf</a:t>
            </a:r>
            <a:r>
              <a:rPr lang="en-US" sz="2000" b="1" dirty="0"/>
              <a:t>)</a:t>
            </a:r>
            <a:endParaRPr lang="en-IN" sz="2000" b="1" dirty="0"/>
          </a:p>
        </p:txBody>
      </p:sp>
      <p:sp>
        <p:nvSpPr>
          <p:cNvPr id="3" name="Content Placeholder 2">
            <a:extLst>
              <a:ext uri="{FF2B5EF4-FFF2-40B4-BE49-F238E27FC236}">
                <a16:creationId xmlns:a16="http://schemas.microsoft.com/office/drawing/2014/main" id="{9A9DF0B7-E219-EE78-D8AE-0269DAC8F1EF}"/>
              </a:ext>
            </a:extLst>
          </p:cNvPr>
          <p:cNvSpPr>
            <a:spLocks noGrp="1"/>
          </p:cNvSpPr>
          <p:nvPr>
            <p:ph idx="1"/>
          </p:nvPr>
        </p:nvSpPr>
        <p:spPr>
          <a:xfrm>
            <a:off x="913795" y="1481558"/>
            <a:ext cx="10353762" cy="4849793"/>
          </a:xfrm>
        </p:spPr>
        <p:txBody>
          <a:bodyPr/>
          <a:lstStyle/>
          <a:p>
            <a:r>
              <a:rPr lang="en-US" dirty="0"/>
              <a:t>Test Conducted </a:t>
            </a:r>
          </a:p>
          <a:p>
            <a:pPr lvl="1"/>
            <a:r>
              <a:rPr lang="en-US" dirty="0"/>
              <a:t>Two identical UDP streams, each targeting 100 Mbps, were sent from UEs belonging to the General Internet Slice (SD=0x1) and the VoIP Slice (SD=0x2) 42 to a test server (192.168.64.40). The performance metrics focused on Jitter and Packet Loss Rate (PLR).</a:t>
            </a:r>
          </a:p>
          <a:p>
            <a:pPr lvl="1"/>
            <a:endParaRPr lang="en-IN" dirty="0"/>
          </a:p>
        </p:txBody>
      </p:sp>
      <p:pic>
        <p:nvPicPr>
          <p:cNvPr id="7" name="Picture 6">
            <a:extLst>
              <a:ext uri="{FF2B5EF4-FFF2-40B4-BE49-F238E27FC236}">
                <a16:creationId xmlns:a16="http://schemas.microsoft.com/office/drawing/2014/main" id="{AA0A88DA-D058-F2DC-63FE-E8E60D820EC0}"/>
              </a:ext>
            </a:extLst>
          </p:cNvPr>
          <p:cNvPicPr>
            <a:picLocks noChangeAspect="1"/>
          </p:cNvPicPr>
          <p:nvPr/>
        </p:nvPicPr>
        <p:blipFill>
          <a:blip r:embed="rId2"/>
          <a:stretch>
            <a:fillRect/>
          </a:stretch>
        </p:blipFill>
        <p:spPr>
          <a:xfrm>
            <a:off x="2567259" y="3217441"/>
            <a:ext cx="7335274" cy="2876951"/>
          </a:xfrm>
          <a:prstGeom prst="rect">
            <a:avLst/>
          </a:prstGeom>
        </p:spPr>
      </p:pic>
    </p:spTree>
    <p:extLst>
      <p:ext uri="{BB962C8B-B14F-4D97-AF65-F5344CB8AC3E}">
        <p14:creationId xmlns:p14="http://schemas.microsoft.com/office/powerpoint/2010/main" val="3703859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799D6E-C42E-60F6-C7F3-FB59998391A0}"/>
              </a:ext>
            </a:extLst>
          </p:cNvPr>
          <p:cNvPicPr>
            <a:picLocks noChangeAspect="1"/>
          </p:cNvPicPr>
          <p:nvPr/>
        </p:nvPicPr>
        <p:blipFill>
          <a:blip r:embed="rId2"/>
          <a:stretch>
            <a:fillRect/>
          </a:stretch>
        </p:blipFill>
        <p:spPr>
          <a:xfrm>
            <a:off x="1616597" y="348984"/>
            <a:ext cx="8958805" cy="5908999"/>
          </a:xfrm>
          <a:prstGeom prst="rect">
            <a:avLst/>
          </a:prstGeom>
        </p:spPr>
      </p:pic>
    </p:spTree>
    <p:extLst>
      <p:ext uri="{BB962C8B-B14F-4D97-AF65-F5344CB8AC3E}">
        <p14:creationId xmlns:p14="http://schemas.microsoft.com/office/powerpoint/2010/main" val="881444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1A7570-4ACB-831F-8C06-97EAE51C1759}"/>
              </a:ext>
            </a:extLst>
          </p:cNvPr>
          <p:cNvPicPr>
            <a:picLocks noChangeAspect="1"/>
          </p:cNvPicPr>
          <p:nvPr/>
        </p:nvPicPr>
        <p:blipFill>
          <a:blip r:embed="rId2"/>
          <a:stretch>
            <a:fillRect/>
          </a:stretch>
        </p:blipFill>
        <p:spPr>
          <a:xfrm>
            <a:off x="1784380" y="854401"/>
            <a:ext cx="8623239" cy="4504677"/>
          </a:xfrm>
          <a:prstGeom prst="rect">
            <a:avLst/>
          </a:prstGeom>
        </p:spPr>
      </p:pic>
    </p:spTree>
    <p:extLst>
      <p:ext uri="{BB962C8B-B14F-4D97-AF65-F5344CB8AC3E}">
        <p14:creationId xmlns:p14="http://schemas.microsoft.com/office/powerpoint/2010/main" val="1882585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C6D200-83A1-C392-8C6C-EF31633FB16A}"/>
              </a:ext>
            </a:extLst>
          </p:cNvPr>
          <p:cNvPicPr>
            <a:picLocks noChangeAspect="1"/>
          </p:cNvPicPr>
          <p:nvPr/>
        </p:nvPicPr>
        <p:blipFill>
          <a:blip r:embed="rId2"/>
          <a:stretch>
            <a:fillRect/>
          </a:stretch>
        </p:blipFill>
        <p:spPr>
          <a:xfrm>
            <a:off x="1894313" y="1473810"/>
            <a:ext cx="8403374" cy="3375982"/>
          </a:xfrm>
          <a:prstGeom prst="rect">
            <a:avLst/>
          </a:prstGeom>
        </p:spPr>
      </p:pic>
    </p:spTree>
    <p:extLst>
      <p:ext uri="{BB962C8B-B14F-4D97-AF65-F5344CB8AC3E}">
        <p14:creationId xmlns:p14="http://schemas.microsoft.com/office/powerpoint/2010/main" val="1933417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95853-9A1B-3456-10B4-2B155C4E113B}"/>
              </a:ext>
            </a:extLst>
          </p:cNvPr>
          <p:cNvSpPr>
            <a:spLocks noGrp="1"/>
          </p:cNvSpPr>
          <p:nvPr>
            <p:ph type="title"/>
          </p:nvPr>
        </p:nvSpPr>
        <p:spPr/>
        <p:txBody>
          <a:bodyPr>
            <a:normAutofit/>
          </a:bodyPr>
          <a:lstStyle/>
          <a:p>
            <a:r>
              <a:rPr lang="en-US" sz="2400" b="1" dirty="0"/>
              <a:t>Correlation of 5G with 4G Packet Traversal (EPC)</a:t>
            </a:r>
            <a:br>
              <a:rPr lang="en-IN" sz="2400" b="1" dirty="0"/>
            </a:br>
            <a:endParaRPr lang="en-IN" sz="2400" b="1" dirty="0"/>
          </a:p>
        </p:txBody>
      </p:sp>
      <p:pic>
        <p:nvPicPr>
          <p:cNvPr id="5" name="Content Placeholder 4">
            <a:extLst>
              <a:ext uri="{FF2B5EF4-FFF2-40B4-BE49-F238E27FC236}">
                <a16:creationId xmlns:a16="http://schemas.microsoft.com/office/drawing/2014/main" id="{94F8A481-8E20-E7A9-1424-FE92497785BA}"/>
              </a:ext>
            </a:extLst>
          </p:cNvPr>
          <p:cNvPicPr>
            <a:picLocks noGrp="1" noChangeAspect="1"/>
          </p:cNvPicPr>
          <p:nvPr>
            <p:ph idx="1"/>
          </p:nvPr>
        </p:nvPicPr>
        <p:blipFill>
          <a:blip r:embed="rId2"/>
          <a:stretch>
            <a:fillRect/>
          </a:stretch>
        </p:blipFill>
        <p:spPr>
          <a:xfrm>
            <a:off x="1639325" y="1407872"/>
            <a:ext cx="9217728" cy="4372883"/>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767551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37315-32D0-293A-3557-E0F10F4AB039}"/>
              </a:ext>
            </a:extLst>
          </p:cNvPr>
          <p:cNvSpPr>
            <a:spLocks noGrp="1"/>
          </p:cNvSpPr>
          <p:nvPr>
            <p:ph type="title"/>
          </p:nvPr>
        </p:nvSpPr>
        <p:spPr/>
        <p:txBody>
          <a:bodyPr/>
          <a:lstStyle/>
          <a:p>
            <a:r>
              <a:rPr lang="en-IN" dirty="0"/>
              <a:t>Prometheus Logs</a:t>
            </a:r>
          </a:p>
        </p:txBody>
      </p:sp>
      <p:pic>
        <p:nvPicPr>
          <p:cNvPr id="5" name="Content Placeholder 4">
            <a:extLst>
              <a:ext uri="{FF2B5EF4-FFF2-40B4-BE49-F238E27FC236}">
                <a16:creationId xmlns:a16="http://schemas.microsoft.com/office/drawing/2014/main" id="{395CE41C-B0B4-A0D7-FCC4-BFE7C5B964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4099" y="1721033"/>
            <a:ext cx="9550179" cy="4927194"/>
          </a:xfrm>
        </p:spPr>
      </p:pic>
    </p:spTree>
    <p:extLst>
      <p:ext uri="{BB962C8B-B14F-4D97-AF65-F5344CB8AC3E}">
        <p14:creationId xmlns:p14="http://schemas.microsoft.com/office/powerpoint/2010/main" val="1209988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A1BD1-384C-A2FA-F8A4-38D4486F7B5E}"/>
              </a:ext>
            </a:extLst>
          </p:cNvPr>
          <p:cNvSpPr>
            <a:spLocks noGrp="1"/>
          </p:cNvSpPr>
          <p:nvPr>
            <p:ph type="title"/>
          </p:nvPr>
        </p:nvSpPr>
        <p:spPr/>
        <p:txBody>
          <a:bodyPr/>
          <a:lstStyle/>
          <a:p>
            <a:r>
              <a:rPr lang="en-IN" dirty="0"/>
              <a:t>Grafana Monitoring</a:t>
            </a:r>
          </a:p>
        </p:txBody>
      </p:sp>
      <p:pic>
        <p:nvPicPr>
          <p:cNvPr id="5" name="Content Placeholder 4">
            <a:extLst>
              <a:ext uri="{FF2B5EF4-FFF2-40B4-BE49-F238E27FC236}">
                <a16:creationId xmlns:a16="http://schemas.microsoft.com/office/drawing/2014/main" id="{694C248D-2CEF-BEFE-21DE-236816053E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0868" y="1667417"/>
            <a:ext cx="8526624" cy="4952360"/>
          </a:xfrm>
        </p:spPr>
      </p:pic>
    </p:spTree>
    <p:extLst>
      <p:ext uri="{BB962C8B-B14F-4D97-AF65-F5344CB8AC3E}">
        <p14:creationId xmlns:p14="http://schemas.microsoft.com/office/powerpoint/2010/main" val="30454218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7A403-8755-D0C6-7267-BD1083C8219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80D3787-F0E5-34EB-3D5D-0F7E166557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1474" y="1721205"/>
            <a:ext cx="8390387" cy="4873232"/>
          </a:xfrm>
        </p:spPr>
      </p:pic>
    </p:spTree>
    <p:extLst>
      <p:ext uri="{BB962C8B-B14F-4D97-AF65-F5344CB8AC3E}">
        <p14:creationId xmlns:p14="http://schemas.microsoft.com/office/powerpoint/2010/main" val="2303869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9481F-10CC-FC1E-BA96-BED02470D1A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BFD328E-C4A9-6C65-C316-8B81446E9D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0528" y="1699690"/>
            <a:ext cx="9734284" cy="4808686"/>
          </a:xfrm>
        </p:spPr>
      </p:pic>
    </p:spTree>
    <p:extLst>
      <p:ext uri="{BB962C8B-B14F-4D97-AF65-F5344CB8AC3E}">
        <p14:creationId xmlns:p14="http://schemas.microsoft.com/office/powerpoint/2010/main" val="1660980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5FBCA-7C59-475F-DB36-9493BF7A0CB1}"/>
              </a:ext>
            </a:extLst>
          </p:cNvPr>
          <p:cNvSpPr>
            <a:spLocks noGrp="1"/>
          </p:cNvSpPr>
          <p:nvPr>
            <p:ph type="title"/>
          </p:nvPr>
        </p:nvSpPr>
        <p:spPr/>
        <p:txBody>
          <a:bodyPr>
            <a:normAutofit/>
          </a:bodyPr>
          <a:lstStyle/>
          <a:p>
            <a:r>
              <a:rPr lang="en-IN" sz="2800" b="1" dirty="0"/>
              <a:t>Key Achievements and Validation</a:t>
            </a:r>
          </a:p>
        </p:txBody>
      </p:sp>
      <p:sp>
        <p:nvSpPr>
          <p:cNvPr id="3" name="Content Placeholder 2">
            <a:extLst>
              <a:ext uri="{FF2B5EF4-FFF2-40B4-BE49-F238E27FC236}">
                <a16:creationId xmlns:a16="http://schemas.microsoft.com/office/drawing/2014/main" id="{77D3AC00-B87B-FBF6-78F0-A82A91A6B5BF}"/>
              </a:ext>
            </a:extLst>
          </p:cNvPr>
          <p:cNvSpPr>
            <a:spLocks noGrp="1"/>
          </p:cNvSpPr>
          <p:nvPr>
            <p:ph idx="1"/>
          </p:nvPr>
        </p:nvSpPr>
        <p:spPr/>
        <p:txBody>
          <a:bodyPr/>
          <a:lstStyle/>
          <a:p>
            <a:r>
              <a:rPr lang="en-US" dirty="0"/>
              <a:t>Complete Deployment of 5G SBA Control Plane</a:t>
            </a:r>
          </a:p>
          <a:p>
            <a:r>
              <a:rPr lang="en-IN" dirty="0"/>
              <a:t>Multi-UPF, Multi-Slice Routing Validation:</a:t>
            </a:r>
          </a:p>
          <a:p>
            <a:r>
              <a:rPr lang="en-IN" dirty="0"/>
              <a:t>Functional QoS Policy Enforcement</a:t>
            </a:r>
          </a:p>
          <a:p>
            <a:r>
              <a:rPr lang="en-US" dirty="0"/>
              <a:t>Low-Latency Performance for VoIP Slice</a:t>
            </a:r>
          </a:p>
          <a:p>
            <a:r>
              <a:rPr lang="en-IN" dirty="0"/>
              <a:t>Local Breakout Validation</a:t>
            </a:r>
          </a:p>
          <a:p>
            <a:r>
              <a:rPr lang="en-IN" dirty="0"/>
              <a:t>End-to-End Packet Verification - </a:t>
            </a:r>
            <a:r>
              <a:rPr lang="en-US" dirty="0"/>
              <a:t>: Wireshark traces confirmed correct operation of:– GTP-U (N3)– PFCP (N4)– NAS/NGAP signaling.</a:t>
            </a:r>
            <a:endParaRPr lang="en-IN" dirty="0"/>
          </a:p>
        </p:txBody>
      </p:sp>
    </p:spTree>
    <p:extLst>
      <p:ext uri="{BB962C8B-B14F-4D97-AF65-F5344CB8AC3E}">
        <p14:creationId xmlns:p14="http://schemas.microsoft.com/office/powerpoint/2010/main" val="1587685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9CA8C-6E1F-156D-46B4-3FD2563C1368}"/>
              </a:ext>
            </a:extLst>
          </p:cNvPr>
          <p:cNvSpPr>
            <a:spLocks noGrp="1"/>
          </p:cNvSpPr>
          <p:nvPr>
            <p:ph type="title"/>
          </p:nvPr>
        </p:nvSpPr>
        <p:spPr/>
        <p:txBody>
          <a:bodyPr/>
          <a:lstStyle/>
          <a:p>
            <a:r>
              <a:rPr lang="en-IN" dirty="0"/>
              <a:t>Future Scope</a:t>
            </a:r>
          </a:p>
        </p:txBody>
      </p:sp>
      <p:sp>
        <p:nvSpPr>
          <p:cNvPr id="3" name="Content Placeholder 2">
            <a:extLst>
              <a:ext uri="{FF2B5EF4-FFF2-40B4-BE49-F238E27FC236}">
                <a16:creationId xmlns:a16="http://schemas.microsoft.com/office/drawing/2014/main" id="{48FB3BB7-136B-3A82-B916-16843F1C8F7A}"/>
              </a:ext>
            </a:extLst>
          </p:cNvPr>
          <p:cNvSpPr>
            <a:spLocks noGrp="1"/>
          </p:cNvSpPr>
          <p:nvPr>
            <p:ph idx="1"/>
          </p:nvPr>
        </p:nvSpPr>
        <p:spPr>
          <a:xfrm>
            <a:off x="925370" y="1732449"/>
            <a:ext cx="10353762" cy="4058751"/>
          </a:xfrm>
        </p:spPr>
        <p:txBody>
          <a:bodyPr/>
          <a:lstStyle/>
          <a:p>
            <a:r>
              <a:rPr lang="en-IN" dirty="0"/>
              <a:t>Future enhancements that can extend this work include: </a:t>
            </a:r>
          </a:p>
          <a:p>
            <a:pPr lvl="1"/>
            <a:r>
              <a:rPr lang="en-IN" b="1" dirty="0"/>
              <a:t>Full 4G EPC + 5G Interworking</a:t>
            </a:r>
            <a:r>
              <a:rPr lang="en-IN" dirty="0"/>
              <a:t>: Deploy MME, SGW, PGW in Open5GS and test 4G–5G mobility using the N26 interface. 48 </a:t>
            </a:r>
          </a:p>
          <a:p>
            <a:pPr lvl="1"/>
            <a:r>
              <a:rPr lang="en-IN" dirty="0"/>
              <a:t> </a:t>
            </a:r>
            <a:r>
              <a:rPr lang="en-IN" b="1" dirty="0"/>
              <a:t>Dynamic Network Slice Orchestration</a:t>
            </a:r>
            <a:r>
              <a:rPr lang="en-IN" dirty="0"/>
              <a:t>: Implement external orchestration to dynamically create/scale SMF/UPF instances and modify NSSAI in real time. </a:t>
            </a:r>
          </a:p>
          <a:p>
            <a:pPr lvl="1"/>
            <a:r>
              <a:rPr lang="en-IN" b="1" dirty="0"/>
              <a:t>SRv6 Implementation</a:t>
            </a:r>
            <a:r>
              <a:rPr lang="en-IN" dirty="0"/>
              <a:t>: Replace GTP-U </a:t>
            </a:r>
            <a:r>
              <a:rPr lang="en-IN" dirty="0" err="1"/>
              <a:t>tunneling</a:t>
            </a:r>
            <a:r>
              <a:rPr lang="en-IN" dirty="0"/>
              <a:t> with SRv6 for N3/N9 interfaces to measure changes in policy enforcement and latency. </a:t>
            </a:r>
          </a:p>
          <a:p>
            <a:pPr lvl="1"/>
            <a:r>
              <a:rPr lang="en-IN" b="1" dirty="0"/>
              <a:t>AI-Driven Slice Optimization</a:t>
            </a:r>
            <a:r>
              <a:rPr lang="en-IN" dirty="0"/>
              <a:t>: Use ML models to predict slice load and automatically scale UPFs or reassign UE slice mapping, introducing automation to SBA</a:t>
            </a:r>
          </a:p>
        </p:txBody>
      </p:sp>
    </p:spTree>
    <p:extLst>
      <p:ext uri="{BB962C8B-B14F-4D97-AF65-F5344CB8AC3E}">
        <p14:creationId xmlns:p14="http://schemas.microsoft.com/office/powerpoint/2010/main" val="38052302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B8D3C-B62F-FF28-E6F8-8C8E9DAF7D30}"/>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5FEF439C-A161-7318-0790-93C24A6CABCD}"/>
              </a:ext>
            </a:extLst>
          </p:cNvPr>
          <p:cNvSpPr>
            <a:spLocks noGrp="1"/>
          </p:cNvSpPr>
          <p:nvPr>
            <p:ph idx="1"/>
          </p:nvPr>
        </p:nvSpPr>
        <p:spPr>
          <a:xfrm>
            <a:off x="913795" y="1829268"/>
            <a:ext cx="10353762" cy="4058751"/>
          </a:xfrm>
        </p:spPr>
        <p:txBody>
          <a:bodyPr>
            <a:normAutofit/>
          </a:bodyPr>
          <a:lstStyle/>
          <a:p>
            <a:pPr marL="36900" indent="0" algn="ctr">
              <a:buNone/>
            </a:pPr>
            <a:endParaRPr lang="en-IN" sz="5000" dirty="0"/>
          </a:p>
          <a:p>
            <a:pPr marL="36900" indent="0" algn="ctr">
              <a:buNone/>
            </a:pPr>
            <a:r>
              <a:rPr lang="en-IN" sz="5000" dirty="0"/>
              <a:t>Thank You</a:t>
            </a:r>
          </a:p>
        </p:txBody>
      </p:sp>
    </p:spTree>
    <p:extLst>
      <p:ext uri="{BB962C8B-B14F-4D97-AF65-F5344CB8AC3E}">
        <p14:creationId xmlns:p14="http://schemas.microsoft.com/office/powerpoint/2010/main" val="36828195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424</TotalTime>
  <Words>1796</Words>
  <Application>Microsoft Office PowerPoint</Application>
  <PresentationFormat>Widescreen</PresentationFormat>
  <Paragraphs>155</Paragraphs>
  <Slides>32</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 Narrow</vt:lpstr>
      <vt:lpstr>Arial</vt:lpstr>
      <vt:lpstr>Calibri</vt:lpstr>
      <vt:lpstr>Calisto MT</vt:lpstr>
      <vt:lpstr>Calisto MT (Body)</vt:lpstr>
      <vt:lpstr>Wingdings 2</vt:lpstr>
      <vt:lpstr>Slate</vt:lpstr>
      <vt:lpstr>Simulation of Packet Traversal in 4G and 5G Network</vt:lpstr>
      <vt:lpstr>Team Members</vt:lpstr>
      <vt:lpstr>Motivation</vt:lpstr>
      <vt:lpstr>Overview </vt:lpstr>
      <vt:lpstr>Fundamentals: 4G Packet Traversal</vt:lpstr>
      <vt:lpstr>Why 4G Fails to Support True Network Slicing ?</vt:lpstr>
      <vt:lpstr>Network Slicing in 5G</vt:lpstr>
      <vt:lpstr>5G - Network Architecture (Simulated)</vt:lpstr>
      <vt:lpstr>IP Addressing Plan and Transport Network</vt:lpstr>
      <vt:lpstr>Network Slicing in Our 5G Deployment</vt:lpstr>
      <vt:lpstr>Slice Definitions</vt:lpstr>
      <vt:lpstr>PDU Session Establishment for Each Slice</vt:lpstr>
      <vt:lpstr>Open5gs WebUI</vt:lpstr>
      <vt:lpstr>Tests &amp; Analysis</vt:lpstr>
      <vt:lpstr>PowerPoint Presentation</vt:lpstr>
      <vt:lpstr>PowerPoint Presentation</vt:lpstr>
      <vt:lpstr>Slice 2: VoIP Traffic (UPF2) </vt:lpstr>
      <vt:lpstr>SIP Session Flow- sngrep output captured on the Asterisk server (UPF2 N6 interface) detailing the SIP signaling flow. The successful REGISTER messages and the progression of INVITE Dialog 4 to the ’IN CALL’ state conclusively prove that the dedicated VoIP Slice (5QI=1) is fully operational, establishing the local breakout path through UPF2 necessary for low-latency media.</vt:lpstr>
      <vt:lpstr>Slice 3: Streaming Traffic (UPF3)</vt:lpstr>
      <vt:lpstr>Throughput = 1,211,583 B/s ×8 bits/byte/1,000,000 ≈ 9.69 Mbps  This calculated throughput of 9.69 Mbps is within the expected tolerance (≈ 3% variance) of the configured 10 Mbps Downlink MBR.</vt:lpstr>
      <vt:lpstr>QoS Validation via High-Load Performance (iperf)</vt:lpstr>
      <vt:lpstr>PowerPoint Presentation</vt:lpstr>
      <vt:lpstr>PowerPoint Presentation</vt:lpstr>
      <vt:lpstr>PowerPoint Presentation</vt:lpstr>
      <vt:lpstr>Correlation of 5G with 4G Packet Traversal (EPC) </vt:lpstr>
      <vt:lpstr>Prometheus Logs</vt:lpstr>
      <vt:lpstr>Grafana Monitoring</vt:lpstr>
      <vt:lpstr>PowerPoint Presentation</vt:lpstr>
      <vt:lpstr>PowerPoint Presentation</vt:lpstr>
      <vt:lpstr>Key Achievements and Validation</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Mangal Gupta</dc:creator>
  <cp:lastModifiedBy>Mangal Gupta</cp:lastModifiedBy>
  <cp:revision>3</cp:revision>
  <dcterms:created xsi:type="dcterms:W3CDTF">2025-11-19T19:28:55Z</dcterms:created>
  <dcterms:modified xsi:type="dcterms:W3CDTF">2025-11-20T02:50:03Z</dcterms:modified>
</cp:coreProperties>
</file>